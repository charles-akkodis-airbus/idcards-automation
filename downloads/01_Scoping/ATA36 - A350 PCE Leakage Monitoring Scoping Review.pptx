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9906000" cy="6794500"/>
  <p:embeddedFontLst>
    <p:embeddedFont>
      <p:font typeface="Quattrocento Sans"/>
      <p:regular r:id="rId20"/>
      <p:bold r:id="rId21"/>
      <p:italic r:id="rId22"/>
      <p:boldItalic r:id="rId23"/>
    </p:embeddedFont>
    <p:embeddedFont>
      <p:font typeface="Noto Sans Symbols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2140">
          <p15:clr>
            <a:srgbClr val="A4A3A4"/>
          </p15:clr>
        </p15:guide>
        <p15:guide id="2" pos="3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CCE368-CF65-4268-86BE-374E4395BD68}">
  <a:tblStyle styleId="{63CCE368-CF65-4268-86BE-374E4395BD6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DF1"/>
          </a:solidFill>
        </a:fill>
      </a:tcStyle>
    </a:wholeTbl>
    <a:band1H>
      <a:tcTxStyle/>
      <a:tcStyle>
        <a:fill>
          <a:solidFill>
            <a:srgbClr val="CAD8E2"/>
          </a:solidFill>
        </a:fill>
      </a:tcStyle>
    </a:band1H>
    <a:band2H>
      <a:tcTxStyle/>
    </a:band2H>
    <a:band1V>
      <a:tcTxStyle/>
      <a:tcStyle>
        <a:fill>
          <a:solidFill>
            <a:srgbClr val="CAD8E2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B22DB326-56A3-4135-885B-215168AB624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40" orient="horz"/>
        <p:guide pos="312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22" Type="http://schemas.openxmlformats.org/officeDocument/2006/relationships/font" Target="fonts/QuattrocentoSans-italic.fntdata"/><Relationship Id="rId21" Type="http://schemas.openxmlformats.org/officeDocument/2006/relationships/font" Target="fonts/QuattrocentoSans-bold.fntdata"/><Relationship Id="rId24" Type="http://schemas.openxmlformats.org/officeDocument/2006/relationships/font" Target="fonts/NotoSansSymbols-regular.fntdata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NotoSansSymbol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2926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11108" y="0"/>
            <a:ext cx="42926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689225" y="509588"/>
            <a:ext cx="4527550" cy="25479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3228567"/>
            <a:ext cx="7924800" cy="305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7"/>
              </a:spcBef>
              <a:spcAft>
                <a:spcPts val="0"/>
              </a:spcAft>
              <a:buSzPts val="1400"/>
              <a:buNone/>
              <a:defRPr b="0" i="0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7752" lvl="1" marL="914400" marR="0" rtl="0" algn="l">
              <a:spcBef>
                <a:spcPts val="327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  <a:defRPr b="0" i="0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752" lvl="2" marL="1371600" marR="0" rtl="0" algn="l">
              <a:spcBef>
                <a:spcPts val="327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  <a:defRPr b="0" i="0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752" lvl="3" marL="1828800" marR="0" rtl="0" algn="l">
              <a:spcBef>
                <a:spcPts val="327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  <a:defRPr b="0" i="0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752" lvl="4" marL="2286000" marR="0" rtl="0" algn="l">
              <a:spcBef>
                <a:spcPts val="327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  <a:defRPr b="0" i="0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453596"/>
            <a:ext cx="42926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11108" y="6453596"/>
            <a:ext cx="42926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/>
          <p:nvPr>
            <p:ph idx="2" type="sldImg"/>
          </p:nvPr>
        </p:nvSpPr>
        <p:spPr>
          <a:xfrm>
            <a:off x="2689225" y="509588"/>
            <a:ext cx="4527550" cy="25479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1" name="Google Shape;171;p1:notes"/>
          <p:cNvSpPr txBox="1"/>
          <p:nvPr>
            <p:ph idx="1" type="body"/>
          </p:nvPr>
        </p:nvSpPr>
        <p:spPr>
          <a:xfrm>
            <a:off x="990600" y="3228567"/>
            <a:ext cx="7924800" cy="305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:notes"/>
          <p:cNvSpPr txBox="1"/>
          <p:nvPr>
            <p:ph idx="12" type="sldNum"/>
          </p:nvPr>
        </p:nvSpPr>
        <p:spPr>
          <a:xfrm>
            <a:off x="5611108" y="6453596"/>
            <a:ext cx="42926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5c0dfd64f_0_0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9" name="Google Shape;179;g2b5c0dfd64f_0_0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2b5c0dfd64f_0_0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b5c0dfd64f_0_448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b5c0dfd64f_0_448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2b5c0dfd64f_0_448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b5c0dfd64f_0_163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b5c0dfd64f_0_163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2b5c0dfd64f_0_163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b5c0dfd64f_0_437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b5c0dfd64f_0_437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2b5c0dfd64f_0_437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906f8d018_1_0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906f8d018_1_0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b906f8d018_1_0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b5c0dfd64f_0_455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b5c0dfd64f_0_455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b5c0dfd64f_0_455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5c0dfd64f_0_464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b5c0dfd64f_0_464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7"/>
              </a:spcBef>
              <a:spcAft>
                <a:spcPts val="0"/>
              </a:spcAft>
              <a:buNone/>
            </a:pPr>
            <a:r>
              <a:rPr lang="fr-FR"/>
              <a:t>SPM algorithm will improve the monitoring performance by tuning the threshold and by tuning the logic.</a:t>
            </a:r>
            <a:endParaRPr/>
          </a:p>
          <a:p>
            <a:pPr indent="0" lvl="0" marL="0" rtl="0" algn="l">
              <a:spcBef>
                <a:spcPts val="32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2b5c0dfd64f_0_464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b5c0dfd64f_0_475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b5c0dfd64f_0_475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2b5c0dfd64f_0_475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b5c15866ca_0_22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b5c15866ca_0_22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2b5c15866ca_0_22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b5c0dfd64f_0_489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6" name="Google Shape;276;g2b5c0dfd64f_0_489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DAVID DECOUCHON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9:14 PM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H Rasolofo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LUIS GUILLERMO AMESTY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9:14 PM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These are: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- JAL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- FWI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- 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- UAE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- EVE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- 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- QFA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- SAS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- SCS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YVES DUPONT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9:14 PM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# 160 A/C provide the SAR 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so more 30 than 40%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2b5c0dfd64f_0_489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b5c0dfd64f_0_433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b5c0dfd64f_0_433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b5c0dfd64f_0_433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b5c0dfd64f_0_482:notes"/>
          <p:cNvSpPr/>
          <p:nvPr>
            <p:ph idx="2" type="sldImg"/>
          </p:nvPr>
        </p:nvSpPr>
        <p:spPr>
          <a:xfrm>
            <a:off x="2689225" y="509588"/>
            <a:ext cx="45276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b5c0dfd64f_0_482:notes"/>
          <p:cNvSpPr txBox="1"/>
          <p:nvPr>
            <p:ph idx="1" type="body"/>
          </p:nvPr>
        </p:nvSpPr>
        <p:spPr>
          <a:xfrm>
            <a:off x="990600" y="3228567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b5c0dfd64f_0_482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e de titre" showMasterSp="0">
  <p:cSld name="1_Diapositive de titr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2"/>
          <p:cNvGrpSpPr/>
          <p:nvPr/>
        </p:nvGrpSpPr>
        <p:grpSpPr>
          <a:xfrm>
            <a:off x="10614576" y="6254454"/>
            <a:ext cx="1332000" cy="246595"/>
            <a:chOff x="830300" y="1716088"/>
            <a:chExt cx="10058401" cy="1862137"/>
          </a:xfrm>
        </p:grpSpPr>
        <p:sp>
          <p:nvSpPr>
            <p:cNvPr id="19" name="Google Shape;19;p2"/>
            <p:cNvSpPr/>
            <p:nvPr/>
          </p:nvSpPr>
          <p:spPr>
            <a:xfrm>
              <a:off x="3857663" y="1749425"/>
              <a:ext cx="1604963" cy="1789112"/>
            </a:xfrm>
            <a:custGeom>
              <a:rect b="b" l="l" r="r" t="t"/>
              <a:pathLst>
                <a:path extrusionOk="0" h="275" w="247">
                  <a:moveTo>
                    <a:pt x="247" y="93"/>
                  </a:moveTo>
                  <a:cubicBezTo>
                    <a:pt x="247" y="40"/>
                    <a:pt x="213" y="0"/>
                    <a:pt x="1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67" y="275"/>
                    <a:pt x="67" y="275"/>
                    <a:pt x="67" y="275"/>
                  </a:cubicBezTo>
                  <a:cubicBezTo>
                    <a:pt x="67" y="60"/>
                    <a:pt x="67" y="60"/>
                    <a:pt x="67" y="60"/>
                  </a:cubicBezTo>
                  <a:cubicBezTo>
                    <a:pt x="143" y="60"/>
                    <a:pt x="143" y="60"/>
                    <a:pt x="143" y="60"/>
                  </a:cubicBezTo>
                  <a:cubicBezTo>
                    <a:pt x="171" y="60"/>
                    <a:pt x="181" y="76"/>
                    <a:pt x="181" y="94"/>
                  </a:cubicBezTo>
                  <a:cubicBezTo>
                    <a:pt x="181" y="113"/>
                    <a:pt x="170" y="128"/>
                    <a:pt x="142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169" y="275"/>
                    <a:pt x="169" y="275"/>
                    <a:pt x="169" y="275"/>
                  </a:cubicBezTo>
                  <a:cubicBezTo>
                    <a:pt x="246" y="275"/>
                    <a:pt x="246" y="275"/>
                    <a:pt x="246" y="275"/>
                  </a:cubicBezTo>
                  <a:cubicBezTo>
                    <a:pt x="246" y="275"/>
                    <a:pt x="183" y="177"/>
                    <a:pt x="183" y="177"/>
                  </a:cubicBezTo>
                  <a:cubicBezTo>
                    <a:pt x="222" y="167"/>
                    <a:pt x="247" y="140"/>
                    <a:pt x="247" y="9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130588" y="1749425"/>
              <a:ext cx="434975" cy="178911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0300" y="1749425"/>
              <a:ext cx="2203450" cy="1789112"/>
            </a:xfrm>
            <a:custGeom>
              <a:rect b="b" l="l" r="r" t="t"/>
              <a:pathLst>
                <a:path extrusionOk="0" h="1127" w="1388">
                  <a:moveTo>
                    <a:pt x="573" y="0"/>
                  </a:moveTo>
                  <a:lnTo>
                    <a:pt x="0" y="1127"/>
                  </a:lnTo>
                  <a:lnTo>
                    <a:pt x="307" y="1127"/>
                  </a:lnTo>
                  <a:lnTo>
                    <a:pt x="401" y="939"/>
                  </a:lnTo>
                  <a:lnTo>
                    <a:pt x="864" y="939"/>
                  </a:lnTo>
                  <a:lnTo>
                    <a:pt x="749" y="705"/>
                  </a:lnTo>
                  <a:lnTo>
                    <a:pt x="516" y="705"/>
                  </a:lnTo>
                  <a:lnTo>
                    <a:pt x="688" y="356"/>
                  </a:lnTo>
                  <a:lnTo>
                    <a:pt x="692" y="356"/>
                  </a:lnTo>
                  <a:lnTo>
                    <a:pt x="1072" y="1127"/>
                  </a:lnTo>
                  <a:lnTo>
                    <a:pt x="1388" y="1127"/>
                  </a:lnTo>
                  <a:lnTo>
                    <a:pt x="815" y="0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670588" y="1749425"/>
              <a:ext cx="1670050" cy="1789112"/>
            </a:xfrm>
            <a:custGeom>
              <a:rect b="b" l="l" r="r" t="t"/>
              <a:pathLst>
                <a:path extrusionOk="0" h="275" w="257">
                  <a:moveTo>
                    <a:pt x="213" y="133"/>
                  </a:moveTo>
                  <a:cubicBezTo>
                    <a:pt x="234" y="121"/>
                    <a:pt x="245" y="102"/>
                    <a:pt x="245" y="75"/>
                  </a:cubicBezTo>
                  <a:cubicBezTo>
                    <a:pt x="245" y="30"/>
                    <a:pt x="212" y="0"/>
                    <a:pt x="1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163" y="275"/>
                    <a:pt x="163" y="275"/>
                    <a:pt x="163" y="275"/>
                  </a:cubicBezTo>
                  <a:cubicBezTo>
                    <a:pt x="220" y="275"/>
                    <a:pt x="257" y="245"/>
                    <a:pt x="257" y="198"/>
                  </a:cubicBezTo>
                  <a:cubicBezTo>
                    <a:pt x="257" y="166"/>
                    <a:pt x="239" y="142"/>
                    <a:pt x="213" y="133"/>
                  </a:cubicBezTo>
                  <a:moveTo>
                    <a:pt x="67" y="59"/>
                  </a:moveTo>
                  <a:cubicBezTo>
                    <a:pt x="157" y="59"/>
                    <a:pt x="157" y="59"/>
                    <a:pt x="157" y="59"/>
                  </a:cubicBezTo>
                  <a:cubicBezTo>
                    <a:pt x="170" y="59"/>
                    <a:pt x="180" y="69"/>
                    <a:pt x="180" y="83"/>
                  </a:cubicBezTo>
                  <a:cubicBezTo>
                    <a:pt x="180" y="97"/>
                    <a:pt x="170" y="107"/>
                    <a:pt x="156" y="107"/>
                  </a:cubicBezTo>
                  <a:cubicBezTo>
                    <a:pt x="67" y="107"/>
                    <a:pt x="67" y="107"/>
                    <a:pt x="67" y="107"/>
                  </a:cubicBezTo>
                  <a:lnTo>
                    <a:pt x="67" y="59"/>
                  </a:lnTo>
                  <a:close/>
                  <a:moveTo>
                    <a:pt x="158" y="218"/>
                  </a:moveTo>
                  <a:cubicBezTo>
                    <a:pt x="67" y="218"/>
                    <a:pt x="67" y="218"/>
                    <a:pt x="67" y="218"/>
                  </a:cubicBezTo>
                  <a:cubicBezTo>
                    <a:pt x="67" y="162"/>
                    <a:pt x="67" y="162"/>
                    <a:pt x="67" y="162"/>
                  </a:cubicBezTo>
                  <a:cubicBezTo>
                    <a:pt x="158" y="162"/>
                    <a:pt x="158" y="162"/>
                    <a:pt x="158" y="162"/>
                  </a:cubicBezTo>
                  <a:cubicBezTo>
                    <a:pt x="175" y="162"/>
                    <a:pt x="187" y="173"/>
                    <a:pt x="187" y="189"/>
                  </a:cubicBezTo>
                  <a:cubicBezTo>
                    <a:pt x="187" y="206"/>
                    <a:pt x="175" y="218"/>
                    <a:pt x="158" y="2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529550" y="1749425"/>
              <a:ext cx="1630363" cy="1828800"/>
            </a:xfrm>
            <a:custGeom>
              <a:rect b="b" l="l" r="r" t="t"/>
              <a:pathLst>
                <a:path extrusionOk="0" h="281" w="251">
                  <a:moveTo>
                    <a:pt x="182" y="154"/>
                  </a:moveTo>
                  <a:cubicBezTo>
                    <a:pt x="182" y="196"/>
                    <a:pt x="163" y="219"/>
                    <a:pt x="125" y="219"/>
                  </a:cubicBezTo>
                  <a:cubicBezTo>
                    <a:pt x="87" y="219"/>
                    <a:pt x="68" y="196"/>
                    <a:pt x="68" y="154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234"/>
                    <a:pt x="44" y="281"/>
                    <a:pt x="125" y="281"/>
                  </a:cubicBezTo>
                  <a:cubicBezTo>
                    <a:pt x="206" y="281"/>
                    <a:pt x="251" y="234"/>
                    <a:pt x="251" y="149"/>
                  </a:cubicBezTo>
                  <a:cubicBezTo>
                    <a:pt x="251" y="0"/>
                    <a:pt x="251" y="0"/>
                    <a:pt x="251" y="0"/>
                  </a:cubicBezTo>
                  <a:cubicBezTo>
                    <a:pt x="182" y="0"/>
                    <a:pt x="182" y="0"/>
                    <a:pt x="182" y="0"/>
                  </a:cubicBezTo>
                  <a:lnTo>
                    <a:pt x="182" y="15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9309138" y="1716088"/>
              <a:ext cx="1579563" cy="1862137"/>
            </a:xfrm>
            <a:custGeom>
              <a:rect b="b" l="l" r="r" t="t"/>
              <a:pathLst>
                <a:path extrusionOk="0" h="286" w="243">
                  <a:moveTo>
                    <a:pt x="156" y="115"/>
                  </a:moveTo>
                  <a:cubicBezTo>
                    <a:pt x="92" y="99"/>
                    <a:pt x="78" y="98"/>
                    <a:pt x="78" y="80"/>
                  </a:cubicBezTo>
                  <a:cubicBezTo>
                    <a:pt x="78" y="65"/>
                    <a:pt x="94" y="59"/>
                    <a:pt x="121" y="59"/>
                  </a:cubicBezTo>
                  <a:cubicBezTo>
                    <a:pt x="157" y="59"/>
                    <a:pt x="195" y="67"/>
                    <a:pt x="216" y="81"/>
                  </a:cubicBezTo>
                  <a:cubicBezTo>
                    <a:pt x="237" y="25"/>
                    <a:pt x="237" y="25"/>
                    <a:pt x="237" y="25"/>
                  </a:cubicBezTo>
                  <a:cubicBezTo>
                    <a:pt x="210" y="10"/>
                    <a:pt x="169" y="0"/>
                    <a:pt x="122" y="0"/>
                  </a:cubicBezTo>
                  <a:cubicBezTo>
                    <a:pt x="51" y="0"/>
                    <a:pt x="11" y="35"/>
                    <a:pt x="11" y="82"/>
                  </a:cubicBezTo>
                  <a:cubicBezTo>
                    <a:pt x="11" y="133"/>
                    <a:pt x="41" y="154"/>
                    <a:pt x="109" y="168"/>
                  </a:cubicBezTo>
                  <a:cubicBezTo>
                    <a:pt x="162" y="180"/>
                    <a:pt x="174" y="187"/>
                    <a:pt x="174" y="202"/>
                  </a:cubicBezTo>
                  <a:cubicBezTo>
                    <a:pt x="174" y="218"/>
                    <a:pt x="159" y="226"/>
                    <a:pt x="130" y="226"/>
                  </a:cubicBezTo>
                  <a:cubicBezTo>
                    <a:pt x="88" y="226"/>
                    <a:pt x="51" y="215"/>
                    <a:pt x="20" y="199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3" y="275"/>
                    <a:pt x="82" y="286"/>
                    <a:pt x="132" y="286"/>
                  </a:cubicBezTo>
                  <a:cubicBezTo>
                    <a:pt x="201" y="286"/>
                    <a:pt x="243" y="254"/>
                    <a:pt x="243" y="200"/>
                  </a:cubicBezTo>
                  <a:cubicBezTo>
                    <a:pt x="243" y="157"/>
                    <a:pt x="215" y="129"/>
                    <a:pt x="156" y="11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2"/>
          <p:cNvSpPr txBox="1"/>
          <p:nvPr/>
        </p:nvSpPr>
        <p:spPr>
          <a:xfrm>
            <a:off x="4266675" y="6363850"/>
            <a:ext cx="400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1"/>
                </a:solidFill>
              </a:rPr>
              <a:t>Model Scoping Review Template reference: FM2302327 v2.0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-AOG review slide - Title &amp; Text">
  <p:cSld name="3_Blank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idx="11" type="ftr"/>
          </p:nvPr>
        </p:nvSpPr>
        <p:spPr>
          <a:xfrm>
            <a:off x="2236498" y="6444000"/>
            <a:ext cx="8296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08725"/>
            <a:ext cx="12192001" cy="566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8528" y="6490387"/>
            <a:ext cx="1086669" cy="202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349" y="6410800"/>
            <a:ext cx="1442414" cy="36496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/>
        </p:nvSpPr>
        <p:spPr>
          <a:xfrm>
            <a:off x="8922620" y="6428700"/>
            <a:ext cx="1419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36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Airbus Internal</a:t>
            </a:r>
            <a:endParaRPr b="1" sz="136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 txBox="1"/>
          <p:nvPr>
            <p:ph type="title"/>
          </p:nvPr>
        </p:nvSpPr>
        <p:spPr>
          <a:xfrm>
            <a:off x="471600" y="655200"/>
            <a:ext cx="11250000" cy="8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body"/>
          </p:nvPr>
        </p:nvSpPr>
        <p:spPr>
          <a:xfrm>
            <a:off x="471600" y="1566000"/>
            <a:ext cx="11250000" cy="46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>
                <a:solidFill>
                  <a:schemeClr val="dk2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−"/>
              <a:defRPr>
                <a:solidFill>
                  <a:schemeClr val="dk2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>
                <a:solidFill>
                  <a:schemeClr val="dk2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▪"/>
              <a:defRPr>
                <a:solidFill>
                  <a:schemeClr val="dk2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>
                <a:solidFill>
                  <a:schemeClr val="dk2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>
                <a:solidFill>
                  <a:schemeClr val="dk2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>
                <a:solidFill>
                  <a:schemeClr val="dk2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>
                <a:solidFill>
                  <a:schemeClr val="dk2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469900" y="104650"/>
            <a:ext cx="112497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[Program] ATA [xx] </a:t>
            </a:r>
            <a:r>
              <a:rPr lang="fr-FR" sz="2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[model name]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35" name="Google Shape;35;p3"/>
          <p:cNvSpPr txBox="1"/>
          <p:nvPr>
            <p:ph idx="2" type="body"/>
          </p:nvPr>
        </p:nvSpPr>
        <p:spPr>
          <a:xfrm>
            <a:off x="8649337" y="27409"/>
            <a:ext cx="3266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None/>
              <a:defRPr sz="800">
                <a:solidFill>
                  <a:srgbClr val="FF0000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36" name="Google Shape;36;p3"/>
          <p:cNvSpPr txBox="1"/>
          <p:nvPr/>
        </p:nvSpPr>
        <p:spPr>
          <a:xfrm>
            <a:off x="4266675" y="6363850"/>
            <a:ext cx="400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1"/>
                </a:solidFill>
              </a:rPr>
              <a:t>Model Scoping Review Template reference: FM2302327 v2.0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idx="11" type="ftr"/>
          </p:nvPr>
        </p:nvSpPr>
        <p:spPr>
          <a:xfrm>
            <a:off x="2236498" y="6444000"/>
            <a:ext cx="8296104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08725"/>
            <a:ext cx="12192000" cy="566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8528" y="6490387"/>
            <a:ext cx="1086669" cy="202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349" y="6410800"/>
            <a:ext cx="1442414" cy="36496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/>
          <p:nvPr/>
        </p:nvSpPr>
        <p:spPr>
          <a:xfrm>
            <a:off x="8922620" y="6428700"/>
            <a:ext cx="1418978" cy="312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36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Airbus Internal</a:t>
            </a:r>
            <a:endParaRPr b="1" sz="136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4266675" y="6363850"/>
            <a:ext cx="400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000">
                <a:solidFill>
                  <a:schemeClr val="lt1"/>
                </a:solidFill>
              </a:rPr>
              <a:t>Model Scoping Review Template reference: FM2302327 v2.0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noFill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5424787"/>
            <a:ext cx="12192000" cy="14332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5"/>
          <p:cNvGrpSpPr/>
          <p:nvPr/>
        </p:nvGrpSpPr>
        <p:grpSpPr>
          <a:xfrm>
            <a:off x="0" y="5412023"/>
            <a:ext cx="12192000" cy="61996"/>
            <a:chOff x="0" y="3175"/>
            <a:chExt cx="6736" cy="68"/>
          </a:xfrm>
        </p:grpSpPr>
        <p:sp>
          <p:nvSpPr>
            <p:cNvPr id="47" name="Google Shape;47;p5"/>
            <p:cNvSpPr/>
            <p:nvPr/>
          </p:nvSpPr>
          <p:spPr>
            <a:xfrm>
              <a:off x="0" y="3175"/>
              <a:ext cx="6733" cy="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1826" y="3175"/>
              <a:ext cx="4910" cy="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5"/>
          <p:cNvSpPr txBox="1"/>
          <p:nvPr>
            <p:ph type="ctrTitle"/>
          </p:nvPr>
        </p:nvSpPr>
        <p:spPr>
          <a:xfrm>
            <a:off x="3305016" y="1628800"/>
            <a:ext cx="6031344" cy="28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" type="subTitle"/>
          </p:nvPr>
        </p:nvSpPr>
        <p:spPr>
          <a:xfrm>
            <a:off x="3305016" y="4561676"/>
            <a:ext cx="6031344" cy="86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2" type="body"/>
          </p:nvPr>
        </p:nvSpPr>
        <p:spPr>
          <a:xfrm>
            <a:off x="3305016" y="5652000"/>
            <a:ext cx="6031344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hite" showMasterSp="0">
  <p:cSld name="Title Slide White">
    <p:bg>
      <p:bgPr>
        <a:noFill/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0" y="5424787"/>
            <a:ext cx="12192000" cy="14332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6"/>
          <p:cNvGrpSpPr/>
          <p:nvPr/>
        </p:nvGrpSpPr>
        <p:grpSpPr>
          <a:xfrm>
            <a:off x="0" y="5412023"/>
            <a:ext cx="12192000" cy="61996"/>
            <a:chOff x="0" y="3175"/>
            <a:chExt cx="6736" cy="68"/>
          </a:xfrm>
        </p:grpSpPr>
        <p:sp>
          <p:nvSpPr>
            <p:cNvPr id="55" name="Google Shape;55;p6"/>
            <p:cNvSpPr/>
            <p:nvPr/>
          </p:nvSpPr>
          <p:spPr>
            <a:xfrm>
              <a:off x="0" y="3175"/>
              <a:ext cx="6733" cy="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1826" y="3175"/>
              <a:ext cx="4910" cy="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6"/>
          <p:cNvSpPr txBox="1"/>
          <p:nvPr>
            <p:ph type="ctrTitle"/>
          </p:nvPr>
        </p:nvSpPr>
        <p:spPr>
          <a:xfrm>
            <a:off x="3305016" y="1628800"/>
            <a:ext cx="6031344" cy="28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" type="subTitle"/>
          </p:nvPr>
        </p:nvSpPr>
        <p:spPr>
          <a:xfrm>
            <a:off x="3305016" y="4561676"/>
            <a:ext cx="6031344" cy="86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descr="AIRBUS_WHITE.png" id="59" name="Google Shape;59;p6"/>
          <p:cNvSpPr/>
          <p:nvPr/>
        </p:nvSpPr>
        <p:spPr>
          <a:xfrm>
            <a:off x="10560496" y="6165304"/>
            <a:ext cx="1440160" cy="36004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3305016" y="5652000"/>
            <a:ext cx="6031344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 showMasterSp="0">
  <p:cSld name="Title Slide 2">
    <p:bg>
      <p:bgPr>
        <a:noFill/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0" y="5424787"/>
            <a:ext cx="12192000" cy="14332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7"/>
          <p:cNvGrpSpPr/>
          <p:nvPr/>
        </p:nvGrpSpPr>
        <p:grpSpPr>
          <a:xfrm>
            <a:off x="0" y="5412023"/>
            <a:ext cx="12192000" cy="61996"/>
            <a:chOff x="0" y="3175"/>
            <a:chExt cx="6736" cy="68"/>
          </a:xfrm>
        </p:grpSpPr>
        <p:sp>
          <p:nvSpPr>
            <p:cNvPr id="64" name="Google Shape;64;p7"/>
            <p:cNvSpPr/>
            <p:nvPr/>
          </p:nvSpPr>
          <p:spPr>
            <a:xfrm>
              <a:off x="0" y="3175"/>
              <a:ext cx="6733" cy="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>
              <a:off x="1826" y="3175"/>
              <a:ext cx="4910" cy="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AIRBUS_WHITE.png" id="66" name="Google Shape;66;p7"/>
          <p:cNvSpPr/>
          <p:nvPr/>
        </p:nvSpPr>
        <p:spPr>
          <a:xfrm>
            <a:off x="10560496" y="6165304"/>
            <a:ext cx="1440160" cy="36004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3305016" y="5652000"/>
            <a:ext cx="6031344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type="ctrTitle"/>
          </p:nvPr>
        </p:nvSpPr>
        <p:spPr>
          <a:xfrm>
            <a:off x="3305016" y="1628800"/>
            <a:ext cx="6031344" cy="28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3305016" y="4561676"/>
            <a:ext cx="6031344" cy="86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Changeable" showMasterSp="0">
  <p:cSld name="Title Slide Changeable">
    <p:bg>
      <p:bgPr>
        <a:noFill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>
            <p:ph idx="2" type="pic"/>
          </p:nvPr>
        </p:nvSpPr>
        <p:spPr>
          <a:xfrm>
            <a:off x="0" y="0"/>
            <a:ext cx="12192000" cy="542448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Noto Sans Symbols"/>
              <a:buChar char="−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8"/>
          <p:cNvSpPr/>
          <p:nvPr/>
        </p:nvSpPr>
        <p:spPr>
          <a:xfrm>
            <a:off x="0" y="5424787"/>
            <a:ext cx="12192000" cy="14332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8"/>
          <p:cNvGrpSpPr/>
          <p:nvPr/>
        </p:nvGrpSpPr>
        <p:grpSpPr>
          <a:xfrm>
            <a:off x="0" y="5412023"/>
            <a:ext cx="12192000" cy="61996"/>
            <a:chOff x="0" y="3175"/>
            <a:chExt cx="6736" cy="68"/>
          </a:xfrm>
        </p:grpSpPr>
        <p:sp>
          <p:nvSpPr>
            <p:cNvPr id="74" name="Google Shape;74;p8"/>
            <p:cNvSpPr/>
            <p:nvPr/>
          </p:nvSpPr>
          <p:spPr>
            <a:xfrm>
              <a:off x="0" y="3175"/>
              <a:ext cx="6733" cy="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1826" y="3175"/>
              <a:ext cx="4910" cy="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AIRBUS_WHITE.png" id="76" name="Google Shape;76;p8"/>
          <p:cNvSpPr/>
          <p:nvPr/>
        </p:nvSpPr>
        <p:spPr>
          <a:xfrm>
            <a:off x="10560496" y="6165304"/>
            <a:ext cx="1440160" cy="36004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8"/>
          <p:cNvSpPr txBox="1"/>
          <p:nvPr>
            <p:ph idx="1" type="body"/>
          </p:nvPr>
        </p:nvSpPr>
        <p:spPr>
          <a:xfrm>
            <a:off x="3305016" y="5652000"/>
            <a:ext cx="6031344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type="ctrTitle"/>
          </p:nvPr>
        </p:nvSpPr>
        <p:spPr>
          <a:xfrm>
            <a:off x="3305016" y="1628800"/>
            <a:ext cx="6031344" cy="28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3" type="subTitle"/>
          </p:nvPr>
        </p:nvSpPr>
        <p:spPr>
          <a:xfrm>
            <a:off x="3305016" y="4561676"/>
            <a:ext cx="6031344" cy="86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ernate" showMasterSp="0">
  <p:cSld name="Title Slide Alternate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0" y="3625065"/>
            <a:ext cx="12192000" cy="323295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9"/>
          <p:cNvGrpSpPr/>
          <p:nvPr/>
        </p:nvGrpSpPr>
        <p:grpSpPr>
          <a:xfrm>
            <a:off x="5430" y="3606831"/>
            <a:ext cx="12192000" cy="61997"/>
            <a:chOff x="3" y="1195"/>
            <a:chExt cx="6736" cy="68"/>
          </a:xfrm>
        </p:grpSpPr>
        <p:sp>
          <p:nvSpPr>
            <p:cNvPr id="83" name="Google Shape;83;p9"/>
            <p:cNvSpPr/>
            <p:nvPr/>
          </p:nvSpPr>
          <p:spPr>
            <a:xfrm>
              <a:off x="3" y="1195"/>
              <a:ext cx="6733" cy="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1829" y="1195"/>
              <a:ext cx="4910" cy="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" name="Google Shape;85;p9"/>
          <p:cNvSpPr txBox="1"/>
          <p:nvPr>
            <p:ph type="ctrTitle"/>
          </p:nvPr>
        </p:nvSpPr>
        <p:spPr>
          <a:xfrm>
            <a:off x="3305016" y="4048064"/>
            <a:ext cx="6031344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>
            <a:off x="3305016" y="4982727"/>
            <a:ext cx="6031344" cy="67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descr="AIRBUS_WHITE.png" id="87" name="Google Shape;87;p9"/>
          <p:cNvSpPr/>
          <p:nvPr/>
        </p:nvSpPr>
        <p:spPr>
          <a:xfrm>
            <a:off x="10560496" y="6165304"/>
            <a:ext cx="1440160" cy="36004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9"/>
          <p:cNvSpPr txBox="1"/>
          <p:nvPr>
            <p:ph idx="2" type="body"/>
          </p:nvPr>
        </p:nvSpPr>
        <p:spPr>
          <a:xfrm>
            <a:off x="3305016" y="6048000"/>
            <a:ext cx="6031344" cy="62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89" name="Google Shape;89;p9"/>
          <p:cNvSpPr/>
          <p:nvPr>
            <p:ph idx="3" type="pic"/>
          </p:nvPr>
        </p:nvSpPr>
        <p:spPr>
          <a:xfrm>
            <a:off x="0" y="0"/>
            <a:ext cx="12192000" cy="360683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Noto Sans Symbols"/>
              <a:buChar char="−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ernate 2" showMasterSp="0">
  <p:cSld name="Title Slide Alternate 2">
    <p:bg>
      <p:bgPr>
        <a:noFill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/>
          <p:nvPr/>
        </p:nvSpPr>
        <p:spPr>
          <a:xfrm>
            <a:off x="0" y="3625065"/>
            <a:ext cx="12192000" cy="323295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10"/>
          <p:cNvGrpSpPr/>
          <p:nvPr/>
        </p:nvGrpSpPr>
        <p:grpSpPr>
          <a:xfrm>
            <a:off x="5430" y="3606831"/>
            <a:ext cx="12192000" cy="61997"/>
            <a:chOff x="3" y="1195"/>
            <a:chExt cx="6736" cy="68"/>
          </a:xfrm>
        </p:grpSpPr>
        <p:sp>
          <p:nvSpPr>
            <p:cNvPr id="93" name="Google Shape;93;p10"/>
            <p:cNvSpPr/>
            <p:nvPr/>
          </p:nvSpPr>
          <p:spPr>
            <a:xfrm>
              <a:off x="3" y="1195"/>
              <a:ext cx="6733" cy="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0"/>
            <p:cNvSpPr/>
            <p:nvPr/>
          </p:nvSpPr>
          <p:spPr>
            <a:xfrm>
              <a:off x="1829" y="1195"/>
              <a:ext cx="4910" cy="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10"/>
          <p:cNvSpPr txBox="1"/>
          <p:nvPr>
            <p:ph type="ctrTitle"/>
          </p:nvPr>
        </p:nvSpPr>
        <p:spPr>
          <a:xfrm>
            <a:off x="3305016" y="4048064"/>
            <a:ext cx="6031344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>
            <a:off x="3305016" y="4982727"/>
            <a:ext cx="6031344" cy="67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descr="AIRBUS_WHITE.png" id="97" name="Google Shape;97;p10"/>
          <p:cNvSpPr/>
          <p:nvPr/>
        </p:nvSpPr>
        <p:spPr>
          <a:xfrm>
            <a:off x="10560496" y="6165304"/>
            <a:ext cx="1440160" cy="36004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0"/>
          <p:cNvSpPr txBox="1"/>
          <p:nvPr>
            <p:ph idx="2" type="body"/>
          </p:nvPr>
        </p:nvSpPr>
        <p:spPr>
          <a:xfrm>
            <a:off x="3305016" y="6048000"/>
            <a:ext cx="6031344" cy="62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/>
          <p:nvPr>
            <p:ph type="title"/>
          </p:nvPr>
        </p:nvSpPr>
        <p:spPr>
          <a:xfrm>
            <a:off x="469901" y="653692"/>
            <a:ext cx="11249698" cy="881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" type="body"/>
          </p:nvPr>
        </p:nvSpPr>
        <p:spPr>
          <a:xfrm>
            <a:off x="472407" y="1566000"/>
            <a:ext cx="11247192" cy="4286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10" type="dt"/>
          </p:nvPr>
        </p:nvSpPr>
        <p:spPr>
          <a:xfrm>
            <a:off x="777600" y="6444000"/>
            <a:ext cx="1159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>
            <p:ph idx="11" type="ftr"/>
          </p:nvPr>
        </p:nvSpPr>
        <p:spPr>
          <a:xfrm>
            <a:off x="2236498" y="6444000"/>
            <a:ext cx="8296104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1"/>
          <p:cNvSpPr txBox="1"/>
          <p:nvPr>
            <p:ph idx="12" type="sldNum"/>
          </p:nvPr>
        </p:nvSpPr>
        <p:spPr>
          <a:xfrm>
            <a:off x="472407" y="6444000"/>
            <a:ext cx="2950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05" name="Google Shape;105;p11"/>
          <p:cNvSpPr txBox="1"/>
          <p:nvPr>
            <p:ph idx="2" type="body"/>
          </p:nvPr>
        </p:nvSpPr>
        <p:spPr>
          <a:xfrm>
            <a:off x="8649337" y="332209"/>
            <a:ext cx="3266785" cy="144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None/>
              <a:defRPr sz="800">
                <a:solidFill>
                  <a:srgbClr val="FF0000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Image">
  <p:cSld name="Content and Imag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>
            <p:ph type="title"/>
          </p:nvPr>
        </p:nvSpPr>
        <p:spPr>
          <a:xfrm>
            <a:off x="469901" y="653692"/>
            <a:ext cx="11249698" cy="881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" type="body"/>
          </p:nvPr>
        </p:nvSpPr>
        <p:spPr>
          <a:xfrm>
            <a:off x="472404" y="1566000"/>
            <a:ext cx="5418347" cy="4286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0" type="dt"/>
          </p:nvPr>
        </p:nvSpPr>
        <p:spPr>
          <a:xfrm>
            <a:off x="777600" y="6444000"/>
            <a:ext cx="1159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1" type="ftr"/>
          </p:nvPr>
        </p:nvSpPr>
        <p:spPr>
          <a:xfrm>
            <a:off x="2236498" y="6444000"/>
            <a:ext cx="8296104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2"/>
          <p:cNvSpPr txBox="1"/>
          <p:nvPr>
            <p:ph idx="12" type="sldNum"/>
          </p:nvPr>
        </p:nvSpPr>
        <p:spPr>
          <a:xfrm>
            <a:off x="472407" y="6444000"/>
            <a:ext cx="2950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12" name="Google Shape;112;p12"/>
          <p:cNvSpPr/>
          <p:nvPr>
            <p:ph idx="2" type="pic"/>
          </p:nvPr>
        </p:nvSpPr>
        <p:spPr>
          <a:xfrm>
            <a:off x="6156000" y="1565999"/>
            <a:ext cx="5508000" cy="3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Noto Sans Symbols"/>
              <a:buChar char="−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3" type="body"/>
          </p:nvPr>
        </p:nvSpPr>
        <p:spPr>
          <a:xfrm>
            <a:off x="8649337" y="332209"/>
            <a:ext cx="3266785" cy="144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None/>
              <a:defRPr sz="800">
                <a:solidFill>
                  <a:srgbClr val="FF0000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Divider">
    <p:bg>
      <p:bgPr>
        <a:noFill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type="title"/>
          </p:nvPr>
        </p:nvSpPr>
        <p:spPr>
          <a:xfrm>
            <a:off x="3905794" y="2054627"/>
            <a:ext cx="7158758" cy="137232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10" type="dt"/>
          </p:nvPr>
        </p:nvSpPr>
        <p:spPr>
          <a:xfrm>
            <a:off x="777600" y="6444000"/>
            <a:ext cx="1159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idx="11" type="ftr"/>
          </p:nvPr>
        </p:nvSpPr>
        <p:spPr>
          <a:xfrm>
            <a:off x="2236498" y="6444000"/>
            <a:ext cx="8296104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472407" y="6444000"/>
            <a:ext cx="2950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19" name="Google Shape;119;p13"/>
          <p:cNvSpPr txBox="1"/>
          <p:nvPr>
            <p:ph idx="1" type="body"/>
          </p:nvPr>
        </p:nvSpPr>
        <p:spPr>
          <a:xfrm>
            <a:off x="3905794" y="3430829"/>
            <a:ext cx="7156802" cy="709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2" type="body"/>
          </p:nvPr>
        </p:nvSpPr>
        <p:spPr>
          <a:xfrm>
            <a:off x="8649337" y="332209"/>
            <a:ext cx="3266785" cy="144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None/>
              <a:defRPr sz="800">
                <a:solidFill>
                  <a:srgbClr val="FF0000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 showMasterSp="0">
  <p:cSld name="Closing Slide">
    <p:bg>
      <p:bgPr>
        <a:solidFill>
          <a:schemeClr val="dk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hankYou_Grid_Portrait.png" id="122" name="Google Shape;122;p14"/>
          <p:cNvSpPr/>
          <p:nvPr/>
        </p:nvSpPr>
        <p:spPr>
          <a:xfrm>
            <a:off x="0" y="651848"/>
            <a:ext cx="12193201" cy="4672454"/>
          </a:xfrm>
          <a:prstGeom prst="rect">
            <a:avLst/>
          </a:prstGeom>
          <a:noFill/>
          <a:ln>
            <a:noFill/>
          </a:ln>
        </p:spPr>
      </p:sp>
      <p:sp>
        <p:nvSpPr>
          <p:cNvPr descr="AIRBUS_WHITE.png" id="123" name="Google Shape;123;p14"/>
          <p:cNvSpPr/>
          <p:nvPr/>
        </p:nvSpPr>
        <p:spPr>
          <a:xfrm>
            <a:off x="10820765" y="6394091"/>
            <a:ext cx="1152128" cy="288032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3886247" y="3812346"/>
            <a:ext cx="6507180" cy="709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grpSp>
        <p:nvGrpSpPr>
          <p:cNvPr id="125" name="Google Shape;125;p14"/>
          <p:cNvGrpSpPr/>
          <p:nvPr/>
        </p:nvGrpSpPr>
        <p:grpSpPr>
          <a:xfrm>
            <a:off x="0" y="3592800"/>
            <a:ext cx="12193201" cy="61997"/>
            <a:chOff x="0" y="3606831"/>
            <a:chExt cx="12193201" cy="61997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3606831"/>
              <a:ext cx="12193201" cy="209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3886247" y="3606831"/>
              <a:ext cx="8305753" cy="61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6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14"/>
          <p:cNvSpPr txBox="1"/>
          <p:nvPr>
            <p:ph idx="2" type="body"/>
          </p:nvPr>
        </p:nvSpPr>
        <p:spPr>
          <a:xfrm>
            <a:off x="469900" y="6394091"/>
            <a:ext cx="4230872" cy="2880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469901" y="653692"/>
            <a:ext cx="11249698" cy="881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77600" y="6444000"/>
            <a:ext cx="1159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5"/>
          <p:cNvSpPr txBox="1"/>
          <p:nvPr>
            <p:ph idx="11" type="ftr"/>
          </p:nvPr>
        </p:nvSpPr>
        <p:spPr>
          <a:xfrm>
            <a:off x="2236498" y="6444000"/>
            <a:ext cx="8296104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12" type="sldNum"/>
          </p:nvPr>
        </p:nvSpPr>
        <p:spPr>
          <a:xfrm>
            <a:off x="472407" y="6444000"/>
            <a:ext cx="2950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34" name="Google Shape;134;p15"/>
          <p:cNvSpPr txBox="1"/>
          <p:nvPr>
            <p:ph idx="1" type="body"/>
          </p:nvPr>
        </p:nvSpPr>
        <p:spPr>
          <a:xfrm>
            <a:off x="8649337" y="332209"/>
            <a:ext cx="3266785" cy="144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None/>
              <a:defRPr sz="800">
                <a:solidFill>
                  <a:srgbClr val="FF0000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idx="10" type="dt"/>
          </p:nvPr>
        </p:nvSpPr>
        <p:spPr>
          <a:xfrm>
            <a:off x="777600" y="6444000"/>
            <a:ext cx="1159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11" type="ftr"/>
          </p:nvPr>
        </p:nvSpPr>
        <p:spPr>
          <a:xfrm>
            <a:off x="2236498" y="6444000"/>
            <a:ext cx="8296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12" type="sldNum"/>
          </p:nvPr>
        </p:nvSpPr>
        <p:spPr>
          <a:xfrm>
            <a:off x="472407" y="6444000"/>
            <a:ext cx="2950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39" name="Google Shape;139;p16"/>
          <p:cNvSpPr txBox="1"/>
          <p:nvPr>
            <p:ph idx="1" type="body"/>
          </p:nvPr>
        </p:nvSpPr>
        <p:spPr>
          <a:xfrm>
            <a:off x="8649337" y="332209"/>
            <a:ext cx="3266785" cy="144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None/>
              <a:defRPr sz="800">
                <a:solidFill>
                  <a:srgbClr val="FF0000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content">
  <p:cSld name="Header and conten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478800" y="655200"/>
            <a:ext cx="11232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478800" y="1558800"/>
            <a:ext cx="11232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7pPr>
            <a:lvl8pPr indent="-342900" lvl="7" marL="36576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0" type="dt"/>
          </p:nvPr>
        </p:nvSpPr>
        <p:spPr>
          <a:xfrm>
            <a:off x="766800" y="6444000"/>
            <a:ext cx="1159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11" type="ftr"/>
          </p:nvPr>
        </p:nvSpPr>
        <p:spPr>
          <a:xfrm>
            <a:off x="2237888" y="6444000"/>
            <a:ext cx="8301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7"/>
          <p:cNvSpPr txBox="1"/>
          <p:nvPr>
            <p:ph idx="12" type="sldNum"/>
          </p:nvPr>
        </p:nvSpPr>
        <p:spPr>
          <a:xfrm>
            <a:off x="478800" y="6444000"/>
            <a:ext cx="288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rt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rt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rt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rt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rt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rt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rt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rt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46" name="Google Shape;146;p17"/>
          <p:cNvSpPr txBox="1"/>
          <p:nvPr>
            <p:ph idx="2" type="body"/>
          </p:nvPr>
        </p:nvSpPr>
        <p:spPr>
          <a:xfrm>
            <a:off x="8649337" y="332209"/>
            <a:ext cx="3266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None/>
              <a:defRPr sz="800">
                <a:solidFill>
                  <a:srgbClr val="FF0000"/>
                </a:solidFill>
              </a:defRPr>
            </a:lvl1pPr>
            <a:lvl2pPr indent="-3429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7pPr>
            <a:lvl8pPr indent="-342900" lvl="7" marL="36576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9pPr>
          </a:lstStyle>
          <a:p/>
        </p:txBody>
      </p:sp>
      <p:grpSp>
        <p:nvGrpSpPr>
          <p:cNvPr id="147" name="Google Shape;147;p17"/>
          <p:cNvGrpSpPr/>
          <p:nvPr/>
        </p:nvGrpSpPr>
        <p:grpSpPr>
          <a:xfrm>
            <a:off x="10851366" y="6463515"/>
            <a:ext cx="1080272" cy="199994"/>
            <a:chOff x="830300" y="1716088"/>
            <a:chExt cx="10058401" cy="1862137"/>
          </a:xfrm>
        </p:grpSpPr>
        <p:sp>
          <p:nvSpPr>
            <p:cNvPr id="148" name="Google Shape;148;p17"/>
            <p:cNvSpPr/>
            <p:nvPr/>
          </p:nvSpPr>
          <p:spPr>
            <a:xfrm>
              <a:off x="3857663" y="1749425"/>
              <a:ext cx="1604963" cy="1789112"/>
            </a:xfrm>
            <a:custGeom>
              <a:rect b="b" l="l" r="r" t="t"/>
              <a:pathLst>
                <a:path extrusionOk="0" h="275" w="247">
                  <a:moveTo>
                    <a:pt x="247" y="93"/>
                  </a:moveTo>
                  <a:cubicBezTo>
                    <a:pt x="247" y="40"/>
                    <a:pt x="213" y="0"/>
                    <a:pt x="1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67" y="275"/>
                    <a:pt x="67" y="275"/>
                    <a:pt x="67" y="275"/>
                  </a:cubicBezTo>
                  <a:cubicBezTo>
                    <a:pt x="67" y="60"/>
                    <a:pt x="67" y="60"/>
                    <a:pt x="67" y="60"/>
                  </a:cubicBezTo>
                  <a:cubicBezTo>
                    <a:pt x="143" y="60"/>
                    <a:pt x="143" y="60"/>
                    <a:pt x="143" y="60"/>
                  </a:cubicBezTo>
                  <a:cubicBezTo>
                    <a:pt x="171" y="60"/>
                    <a:pt x="181" y="76"/>
                    <a:pt x="181" y="94"/>
                  </a:cubicBezTo>
                  <a:cubicBezTo>
                    <a:pt x="181" y="113"/>
                    <a:pt x="170" y="128"/>
                    <a:pt x="142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169" y="275"/>
                    <a:pt x="169" y="275"/>
                    <a:pt x="169" y="275"/>
                  </a:cubicBezTo>
                  <a:cubicBezTo>
                    <a:pt x="246" y="275"/>
                    <a:pt x="246" y="275"/>
                    <a:pt x="246" y="275"/>
                  </a:cubicBezTo>
                  <a:cubicBezTo>
                    <a:pt x="246" y="275"/>
                    <a:pt x="183" y="177"/>
                    <a:pt x="183" y="177"/>
                  </a:cubicBezTo>
                  <a:cubicBezTo>
                    <a:pt x="222" y="167"/>
                    <a:pt x="247" y="140"/>
                    <a:pt x="247" y="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3130588" y="1749425"/>
              <a:ext cx="435000" cy="1789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830300" y="1749425"/>
              <a:ext cx="2203450" cy="1789113"/>
            </a:xfrm>
            <a:custGeom>
              <a:rect b="b" l="l" r="r" t="t"/>
              <a:pathLst>
                <a:path extrusionOk="0" h="1127" w="1388">
                  <a:moveTo>
                    <a:pt x="573" y="0"/>
                  </a:moveTo>
                  <a:lnTo>
                    <a:pt x="0" y="1127"/>
                  </a:lnTo>
                  <a:lnTo>
                    <a:pt x="307" y="1127"/>
                  </a:lnTo>
                  <a:lnTo>
                    <a:pt x="401" y="939"/>
                  </a:lnTo>
                  <a:lnTo>
                    <a:pt x="864" y="939"/>
                  </a:lnTo>
                  <a:lnTo>
                    <a:pt x="749" y="705"/>
                  </a:lnTo>
                  <a:lnTo>
                    <a:pt x="516" y="705"/>
                  </a:lnTo>
                  <a:lnTo>
                    <a:pt x="688" y="356"/>
                  </a:lnTo>
                  <a:lnTo>
                    <a:pt x="692" y="356"/>
                  </a:lnTo>
                  <a:lnTo>
                    <a:pt x="1072" y="1127"/>
                  </a:lnTo>
                  <a:lnTo>
                    <a:pt x="1388" y="1127"/>
                  </a:lnTo>
                  <a:lnTo>
                    <a:pt x="815" y="0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5670588" y="1749425"/>
              <a:ext cx="1670050" cy="1789112"/>
            </a:xfrm>
            <a:custGeom>
              <a:rect b="b" l="l" r="r" t="t"/>
              <a:pathLst>
                <a:path extrusionOk="0" h="275" w="257">
                  <a:moveTo>
                    <a:pt x="213" y="133"/>
                  </a:moveTo>
                  <a:cubicBezTo>
                    <a:pt x="234" y="121"/>
                    <a:pt x="245" y="102"/>
                    <a:pt x="245" y="75"/>
                  </a:cubicBezTo>
                  <a:cubicBezTo>
                    <a:pt x="245" y="30"/>
                    <a:pt x="212" y="0"/>
                    <a:pt x="1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163" y="275"/>
                    <a:pt x="163" y="275"/>
                    <a:pt x="163" y="275"/>
                  </a:cubicBezTo>
                  <a:cubicBezTo>
                    <a:pt x="220" y="275"/>
                    <a:pt x="257" y="245"/>
                    <a:pt x="257" y="198"/>
                  </a:cubicBezTo>
                  <a:cubicBezTo>
                    <a:pt x="257" y="166"/>
                    <a:pt x="239" y="142"/>
                    <a:pt x="213" y="133"/>
                  </a:cubicBezTo>
                  <a:moveTo>
                    <a:pt x="67" y="59"/>
                  </a:moveTo>
                  <a:cubicBezTo>
                    <a:pt x="157" y="59"/>
                    <a:pt x="157" y="59"/>
                    <a:pt x="157" y="59"/>
                  </a:cubicBezTo>
                  <a:cubicBezTo>
                    <a:pt x="170" y="59"/>
                    <a:pt x="180" y="69"/>
                    <a:pt x="180" y="83"/>
                  </a:cubicBezTo>
                  <a:cubicBezTo>
                    <a:pt x="180" y="97"/>
                    <a:pt x="170" y="107"/>
                    <a:pt x="156" y="107"/>
                  </a:cubicBezTo>
                  <a:cubicBezTo>
                    <a:pt x="67" y="107"/>
                    <a:pt x="67" y="107"/>
                    <a:pt x="67" y="107"/>
                  </a:cubicBezTo>
                  <a:lnTo>
                    <a:pt x="67" y="59"/>
                  </a:lnTo>
                  <a:close/>
                  <a:moveTo>
                    <a:pt x="158" y="218"/>
                  </a:moveTo>
                  <a:cubicBezTo>
                    <a:pt x="67" y="218"/>
                    <a:pt x="67" y="218"/>
                    <a:pt x="67" y="218"/>
                  </a:cubicBezTo>
                  <a:cubicBezTo>
                    <a:pt x="67" y="162"/>
                    <a:pt x="67" y="162"/>
                    <a:pt x="67" y="162"/>
                  </a:cubicBezTo>
                  <a:cubicBezTo>
                    <a:pt x="158" y="162"/>
                    <a:pt x="158" y="162"/>
                    <a:pt x="158" y="162"/>
                  </a:cubicBezTo>
                  <a:cubicBezTo>
                    <a:pt x="175" y="162"/>
                    <a:pt x="187" y="173"/>
                    <a:pt x="187" y="189"/>
                  </a:cubicBezTo>
                  <a:cubicBezTo>
                    <a:pt x="187" y="206"/>
                    <a:pt x="175" y="218"/>
                    <a:pt x="158" y="21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7529550" y="1749425"/>
              <a:ext cx="1630363" cy="1828800"/>
            </a:xfrm>
            <a:custGeom>
              <a:rect b="b" l="l" r="r" t="t"/>
              <a:pathLst>
                <a:path extrusionOk="0" h="281" w="251">
                  <a:moveTo>
                    <a:pt x="182" y="154"/>
                  </a:moveTo>
                  <a:cubicBezTo>
                    <a:pt x="182" y="196"/>
                    <a:pt x="163" y="219"/>
                    <a:pt x="125" y="219"/>
                  </a:cubicBezTo>
                  <a:cubicBezTo>
                    <a:pt x="87" y="219"/>
                    <a:pt x="68" y="196"/>
                    <a:pt x="68" y="154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234"/>
                    <a:pt x="44" y="281"/>
                    <a:pt x="125" y="281"/>
                  </a:cubicBezTo>
                  <a:cubicBezTo>
                    <a:pt x="206" y="281"/>
                    <a:pt x="251" y="234"/>
                    <a:pt x="251" y="149"/>
                  </a:cubicBezTo>
                  <a:cubicBezTo>
                    <a:pt x="251" y="0"/>
                    <a:pt x="251" y="0"/>
                    <a:pt x="251" y="0"/>
                  </a:cubicBezTo>
                  <a:cubicBezTo>
                    <a:pt x="182" y="0"/>
                    <a:pt x="182" y="0"/>
                    <a:pt x="182" y="0"/>
                  </a:cubicBezTo>
                  <a:lnTo>
                    <a:pt x="182" y="15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9309138" y="1716088"/>
              <a:ext cx="1579563" cy="1862137"/>
            </a:xfrm>
            <a:custGeom>
              <a:rect b="b" l="l" r="r" t="t"/>
              <a:pathLst>
                <a:path extrusionOk="0" h="286" w="243">
                  <a:moveTo>
                    <a:pt x="156" y="115"/>
                  </a:moveTo>
                  <a:cubicBezTo>
                    <a:pt x="92" y="99"/>
                    <a:pt x="78" y="98"/>
                    <a:pt x="78" y="80"/>
                  </a:cubicBezTo>
                  <a:cubicBezTo>
                    <a:pt x="78" y="65"/>
                    <a:pt x="94" y="59"/>
                    <a:pt x="121" y="59"/>
                  </a:cubicBezTo>
                  <a:cubicBezTo>
                    <a:pt x="157" y="59"/>
                    <a:pt x="195" y="67"/>
                    <a:pt x="216" y="81"/>
                  </a:cubicBezTo>
                  <a:cubicBezTo>
                    <a:pt x="237" y="25"/>
                    <a:pt x="237" y="25"/>
                    <a:pt x="237" y="25"/>
                  </a:cubicBezTo>
                  <a:cubicBezTo>
                    <a:pt x="210" y="10"/>
                    <a:pt x="169" y="0"/>
                    <a:pt x="122" y="0"/>
                  </a:cubicBezTo>
                  <a:cubicBezTo>
                    <a:pt x="51" y="0"/>
                    <a:pt x="11" y="35"/>
                    <a:pt x="11" y="82"/>
                  </a:cubicBezTo>
                  <a:cubicBezTo>
                    <a:pt x="11" y="133"/>
                    <a:pt x="41" y="154"/>
                    <a:pt x="109" y="168"/>
                  </a:cubicBezTo>
                  <a:cubicBezTo>
                    <a:pt x="162" y="180"/>
                    <a:pt x="174" y="187"/>
                    <a:pt x="174" y="202"/>
                  </a:cubicBezTo>
                  <a:cubicBezTo>
                    <a:pt x="174" y="218"/>
                    <a:pt x="159" y="226"/>
                    <a:pt x="130" y="226"/>
                  </a:cubicBezTo>
                  <a:cubicBezTo>
                    <a:pt x="88" y="226"/>
                    <a:pt x="51" y="215"/>
                    <a:pt x="20" y="199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3" y="275"/>
                    <a:pt x="82" y="286"/>
                    <a:pt x="132" y="286"/>
                  </a:cubicBezTo>
                  <a:cubicBezTo>
                    <a:pt x="201" y="286"/>
                    <a:pt x="243" y="254"/>
                    <a:pt x="243" y="200"/>
                  </a:cubicBezTo>
                  <a:cubicBezTo>
                    <a:pt x="243" y="157"/>
                    <a:pt x="215" y="129"/>
                    <a:pt x="156" y="11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two columns">
  <p:cSld name="Header and two columns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>
            <p:ph type="title"/>
          </p:nvPr>
        </p:nvSpPr>
        <p:spPr>
          <a:xfrm>
            <a:off x="478800" y="655200"/>
            <a:ext cx="11232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8"/>
          <p:cNvSpPr txBox="1"/>
          <p:nvPr>
            <p:ph idx="1" type="body"/>
          </p:nvPr>
        </p:nvSpPr>
        <p:spPr>
          <a:xfrm>
            <a:off x="479425" y="1565999"/>
            <a:ext cx="5418300" cy="43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7pPr>
            <a:lvl8pPr indent="-342900" lvl="7" marL="36576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57" name="Google Shape;157;p18"/>
          <p:cNvSpPr txBox="1"/>
          <p:nvPr>
            <p:ph idx="10" type="dt"/>
          </p:nvPr>
        </p:nvSpPr>
        <p:spPr>
          <a:xfrm>
            <a:off x="766800" y="6444000"/>
            <a:ext cx="1159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1" type="ftr"/>
          </p:nvPr>
        </p:nvSpPr>
        <p:spPr>
          <a:xfrm>
            <a:off x="2235600" y="6444000"/>
            <a:ext cx="8301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12" type="sldNum"/>
          </p:nvPr>
        </p:nvSpPr>
        <p:spPr>
          <a:xfrm>
            <a:off x="478800" y="6444000"/>
            <a:ext cx="288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rt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rt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rt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rt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rt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rt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rt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rt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60" name="Google Shape;160;p18"/>
          <p:cNvSpPr txBox="1"/>
          <p:nvPr>
            <p:ph idx="2" type="body"/>
          </p:nvPr>
        </p:nvSpPr>
        <p:spPr>
          <a:xfrm>
            <a:off x="6301252" y="1565999"/>
            <a:ext cx="5418300" cy="43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7pPr>
            <a:lvl8pPr indent="-342900" lvl="7" marL="36576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61" name="Google Shape;161;p18"/>
          <p:cNvSpPr txBox="1"/>
          <p:nvPr>
            <p:ph idx="3" type="body"/>
          </p:nvPr>
        </p:nvSpPr>
        <p:spPr>
          <a:xfrm>
            <a:off x="8649337" y="332209"/>
            <a:ext cx="3266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None/>
              <a:defRPr sz="800">
                <a:solidFill>
                  <a:srgbClr val="FF0000"/>
                </a:solidFill>
              </a:defRPr>
            </a:lvl1pPr>
            <a:lvl2pPr indent="-342900" lvl="1" marL="914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−"/>
              <a:defRPr/>
            </a:lvl2pPr>
            <a:lvl3pPr indent="-342900" lvl="2" marL="13716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3pPr>
            <a:lvl4pPr indent="-342900" lvl="3" marL="18288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5pPr>
            <a:lvl6pPr indent="-342900" lvl="5" marL="2743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7pPr>
            <a:lvl8pPr indent="-342900" lvl="7" marL="36576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  <a:defRPr/>
            </a:lvl9pPr>
          </a:lstStyle>
          <a:p/>
        </p:txBody>
      </p:sp>
      <p:grpSp>
        <p:nvGrpSpPr>
          <p:cNvPr id="162" name="Google Shape;162;p18"/>
          <p:cNvGrpSpPr/>
          <p:nvPr/>
        </p:nvGrpSpPr>
        <p:grpSpPr>
          <a:xfrm>
            <a:off x="10851366" y="6463515"/>
            <a:ext cx="1080272" cy="199994"/>
            <a:chOff x="830300" y="1716088"/>
            <a:chExt cx="10058401" cy="1862137"/>
          </a:xfrm>
        </p:grpSpPr>
        <p:sp>
          <p:nvSpPr>
            <p:cNvPr id="163" name="Google Shape;163;p18"/>
            <p:cNvSpPr/>
            <p:nvPr/>
          </p:nvSpPr>
          <p:spPr>
            <a:xfrm>
              <a:off x="3857663" y="1749425"/>
              <a:ext cx="1604963" cy="1789112"/>
            </a:xfrm>
            <a:custGeom>
              <a:rect b="b" l="l" r="r" t="t"/>
              <a:pathLst>
                <a:path extrusionOk="0" h="275" w="247">
                  <a:moveTo>
                    <a:pt x="247" y="93"/>
                  </a:moveTo>
                  <a:cubicBezTo>
                    <a:pt x="247" y="40"/>
                    <a:pt x="213" y="0"/>
                    <a:pt x="1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67" y="275"/>
                    <a:pt x="67" y="275"/>
                    <a:pt x="67" y="275"/>
                  </a:cubicBezTo>
                  <a:cubicBezTo>
                    <a:pt x="67" y="60"/>
                    <a:pt x="67" y="60"/>
                    <a:pt x="67" y="60"/>
                  </a:cubicBezTo>
                  <a:cubicBezTo>
                    <a:pt x="143" y="60"/>
                    <a:pt x="143" y="60"/>
                    <a:pt x="143" y="60"/>
                  </a:cubicBezTo>
                  <a:cubicBezTo>
                    <a:pt x="171" y="60"/>
                    <a:pt x="181" y="76"/>
                    <a:pt x="181" y="94"/>
                  </a:cubicBezTo>
                  <a:cubicBezTo>
                    <a:pt x="181" y="113"/>
                    <a:pt x="170" y="128"/>
                    <a:pt x="142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169" y="275"/>
                    <a:pt x="169" y="275"/>
                    <a:pt x="169" y="275"/>
                  </a:cubicBezTo>
                  <a:cubicBezTo>
                    <a:pt x="246" y="275"/>
                    <a:pt x="246" y="275"/>
                    <a:pt x="246" y="275"/>
                  </a:cubicBezTo>
                  <a:cubicBezTo>
                    <a:pt x="246" y="275"/>
                    <a:pt x="183" y="177"/>
                    <a:pt x="183" y="177"/>
                  </a:cubicBezTo>
                  <a:cubicBezTo>
                    <a:pt x="222" y="167"/>
                    <a:pt x="247" y="140"/>
                    <a:pt x="247" y="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3130588" y="1749425"/>
              <a:ext cx="435000" cy="1789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830300" y="1749425"/>
              <a:ext cx="2203450" cy="1789113"/>
            </a:xfrm>
            <a:custGeom>
              <a:rect b="b" l="l" r="r" t="t"/>
              <a:pathLst>
                <a:path extrusionOk="0" h="1127" w="1388">
                  <a:moveTo>
                    <a:pt x="573" y="0"/>
                  </a:moveTo>
                  <a:lnTo>
                    <a:pt x="0" y="1127"/>
                  </a:lnTo>
                  <a:lnTo>
                    <a:pt x="307" y="1127"/>
                  </a:lnTo>
                  <a:lnTo>
                    <a:pt x="401" y="939"/>
                  </a:lnTo>
                  <a:lnTo>
                    <a:pt x="864" y="939"/>
                  </a:lnTo>
                  <a:lnTo>
                    <a:pt x="749" y="705"/>
                  </a:lnTo>
                  <a:lnTo>
                    <a:pt x="516" y="705"/>
                  </a:lnTo>
                  <a:lnTo>
                    <a:pt x="688" y="356"/>
                  </a:lnTo>
                  <a:lnTo>
                    <a:pt x="692" y="356"/>
                  </a:lnTo>
                  <a:lnTo>
                    <a:pt x="1072" y="1127"/>
                  </a:lnTo>
                  <a:lnTo>
                    <a:pt x="1388" y="1127"/>
                  </a:lnTo>
                  <a:lnTo>
                    <a:pt x="815" y="0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5670588" y="1749425"/>
              <a:ext cx="1670050" cy="1789112"/>
            </a:xfrm>
            <a:custGeom>
              <a:rect b="b" l="l" r="r" t="t"/>
              <a:pathLst>
                <a:path extrusionOk="0" h="275" w="257">
                  <a:moveTo>
                    <a:pt x="213" y="133"/>
                  </a:moveTo>
                  <a:cubicBezTo>
                    <a:pt x="234" y="121"/>
                    <a:pt x="245" y="102"/>
                    <a:pt x="245" y="75"/>
                  </a:cubicBezTo>
                  <a:cubicBezTo>
                    <a:pt x="245" y="30"/>
                    <a:pt x="212" y="0"/>
                    <a:pt x="1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163" y="275"/>
                    <a:pt x="163" y="275"/>
                    <a:pt x="163" y="275"/>
                  </a:cubicBezTo>
                  <a:cubicBezTo>
                    <a:pt x="220" y="275"/>
                    <a:pt x="257" y="245"/>
                    <a:pt x="257" y="198"/>
                  </a:cubicBezTo>
                  <a:cubicBezTo>
                    <a:pt x="257" y="166"/>
                    <a:pt x="239" y="142"/>
                    <a:pt x="213" y="133"/>
                  </a:cubicBezTo>
                  <a:moveTo>
                    <a:pt x="67" y="59"/>
                  </a:moveTo>
                  <a:cubicBezTo>
                    <a:pt x="157" y="59"/>
                    <a:pt x="157" y="59"/>
                    <a:pt x="157" y="59"/>
                  </a:cubicBezTo>
                  <a:cubicBezTo>
                    <a:pt x="170" y="59"/>
                    <a:pt x="180" y="69"/>
                    <a:pt x="180" y="83"/>
                  </a:cubicBezTo>
                  <a:cubicBezTo>
                    <a:pt x="180" y="97"/>
                    <a:pt x="170" y="107"/>
                    <a:pt x="156" y="107"/>
                  </a:cubicBezTo>
                  <a:cubicBezTo>
                    <a:pt x="67" y="107"/>
                    <a:pt x="67" y="107"/>
                    <a:pt x="67" y="107"/>
                  </a:cubicBezTo>
                  <a:lnTo>
                    <a:pt x="67" y="59"/>
                  </a:lnTo>
                  <a:close/>
                  <a:moveTo>
                    <a:pt x="158" y="218"/>
                  </a:moveTo>
                  <a:cubicBezTo>
                    <a:pt x="67" y="218"/>
                    <a:pt x="67" y="218"/>
                    <a:pt x="67" y="218"/>
                  </a:cubicBezTo>
                  <a:cubicBezTo>
                    <a:pt x="67" y="162"/>
                    <a:pt x="67" y="162"/>
                    <a:pt x="67" y="162"/>
                  </a:cubicBezTo>
                  <a:cubicBezTo>
                    <a:pt x="158" y="162"/>
                    <a:pt x="158" y="162"/>
                    <a:pt x="158" y="162"/>
                  </a:cubicBezTo>
                  <a:cubicBezTo>
                    <a:pt x="175" y="162"/>
                    <a:pt x="187" y="173"/>
                    <a:pt x="187" y="189"/>
                  </a:cubicBezTo>
                  <a:cubicBezTo>
                    <a:pt x="187" y="206"/>
                    <a:pt x="175" y="218"/>
                    <a:pt x="158" y="21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7529550" y="1749425"/>
              <a:ext cx="1630363" cy="1828800"/>
            </a:xfrm>
            <a:custGeom>
              <a:rect b="b" l="l" r="r" t="t"/>
              <a:pathLst>
                <a:path extrusionOk="0" h="281" w="251">
                  <a:moveTo>
                    <a:pt x="182" y="154"/>
                  </a:moveTo>
                  <a:cubicBezTo>
                    <a:pt x="182" y="196"/>
                    <a:pt x="163" y="219"/>
                    <a:pt x="125" y="219"/>
                  </a:cubicBezTo>
                  <a:cubicBezTo>
                    <a:pt x="87" y="219"/>
                    <a:pt x="68" y="196"/>
                    <a:pt x="68" y="154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234"/>
                    <a:pt x="44" y="281"/>
                    <a:pt x="125" y="281"/>
                  </a:cubicBezTo>
                  <a:cubicBezTo>
                    <a:pt x="206" y="281"/>
                    <a:pt x="251" y="234"/>
                    <a:pt x="251" y="149"/>
                  </a:cubicBezTo>
                  <a:cubicBezTo>
                    <a:pt x="251" y="0"/>
                    <a:pt x="251" y="0"/>
                    <a:pt x="251" y="0"/>
                  </a:cubicBezTo>
                  <a:cubicBezTo>
                    <a:pt x="182" y="0"/>
                    <a:pt x="182" y="0"/>
                    <a:pt x="182" y="0"/>
                  </a:cubicBezTo>
                  <a:lnTo>
                    <a:pt x="182" y="15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9309138" y="1716088"/>
              <a:ext cx="1579563" cy="1862137"/>
            </a:xfrm>
            <a:custGeom>
              <a:rect b="b" l="l" r="r" t="t"/>
              <a:pathLst>
                <a:path extrusionOk="0" h="286" w="243">
                  <a:moveTo>
                    <a:pt x="156" y="115"/>
                  </a:moveTo>
                  <a:cubicBezTo>
                    <a:pt x="92" y="99"/>
                    <a:pt x="78" y="98"/>
                    <a:pt x="78" y="80"/>
                  </a:cubicBezTo>
                  <a:cubicBezTo>
                    <a:pt x="78" y="65"/>
                    <a:pt x="94" y="59"/>
                    <a:pt x="121" y="59"/>
                  </a:cubicBezTo>
                  <a:cubicBezTo>
                    <a:pt x="157" y="59"/>
                    <a:pt x="195" y="67"/>
                    <a:pt x="216" y="81"/>
                  </a:cubicBezTo>
                  <a:cubicBezTo>
                    <a:pt x="237" y="25"/>
                    <a:pt x="237" y="25"/>
                    <a:pt x="237" y="25"/>
                  </a:cubicBezTo>
                  <a:cubicBezTo>
                    <a:pt x="210" y="10"/>
                    <a:pt x="169" y="0"/>
                    <a:pt x="122" y="0"/>
                  </a:cubicBezTo>
                  <a:cubicBezTo>
                    <a:pt x="51" y="0"/>
                    <a:pt x="11" y="35"/>
                    <a:pt x="11" y="82"/>
                  </a:cubicBezTo>
                  <a:cubicBezTo>
                    <a:pt x="11" y="133"/>
                    <a:pt x="41" y="154"/>
                    <a:pt x="109" y="168"/>
                  </a:cubicBezTo>
                  <a:cubicBezTo>
                    <a:pt x="162" y="180"/>
                    <a:pt x="174" y="187"/>
                    <a:pt x="174" y="202"/>
                  </a:cubicBezTo>
                  <a:cubicBezTo>
                    <a:pt x="174" y="218"/>
                    <a:pt x="159" y="226"/>
                    <a:pt x="130" y="226"/>
                  </a:cubicBezTo>
                  <a:cubicBezTo>
                    <a:pt x="88" y="226"/>
                    <a:pt x="51" y="215"/>
                    <a:pt x="20" y="199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3" y="275"/>
                    <a:pt x="82" y="286"/>
                    <a:pt x="132" y="286"/>
                  </a:cubicBezTo>
                  <a:cubicBezTo>
                    <a:pt x="201" y="286"/>
                    <a:pt x="243" y="254"/>
                    <a:pt x="243" y="200"/>
                  </a:cubicBezTo>
                  <a:cubicBezTo>
                    <a:pt x="243" y="157"/>
                    <a:pt x="215" y="129"/>
                    <a:pt x="156" y="11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69901" y="653692"/>
            <a:ext cx="11249698" cy="881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2407" y="1566000"/>
            <a:ext cx="11247192" cy="4286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Noto Sans Symbols"/>
              <a:buChar char="−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77600" y="6444000"/>
            <a:ext cx="1159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36498" y="6444000"/>
            <a:ext cx="8296104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6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72407" y="6444000"/>
            <a:ext cx="2950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descr="Screen Shot 2016-11-11 at 09.55.03.png" id="15" name="Google Shape;15;p1"/>
          <p:cNvSpPr/>
          <p:nvPr/>
        </p:nvSpPr>
        <p:spPr>
          <a:xfrm>
            <a:off x="10832400" y="6444000"/>
            <a:ext cx="1108800" cy="231001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p1"/>
          <p:cNvSpPr txBox="1"/>
          <p:nvPr/>
        </p:nvSpPr>
        <p:spPr>
          <a:xfrm>
            <a:off x="4266675" y="6363850"/>
            <a:ext cx="420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dk1"/>
                </a:solidFill>
              </a:rPr>
              <a:t>Model Feasibility Review </a:t>
            </a:r>
            <a:r>
              <a:rPr lang="fr-FR" sz="1000">
                <a:solidFill>
                  <a:schemeClr val="dk1"/>
                </a:solidFill>
              </a:rPr>
              <a:t>Template reference: FM2200683 v1.0</a:t>
            </a:r>
            <a:endParaRPr sz="10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448">
          <p15:clr>
            <a:srgbClr val="F26B43"/>
          </p15:clr>
        </p15:guide>
        <p15:guide id="4" pos="296">
          <p15:clr>
            <a:srgbClr val="F26B43"/>
          </p15:clr>
        </p15:guide>
        <p15:guide id="5" orient="horz" pos="2085">
          <p15:clr>
            <a:srgbClr val="F26B43"/>
          </p15:clr>
        </p15:guide>
        <p15:guide id="6" pos="75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jira.airbus.corp/browse/SBAOG001-7983" TargetMode="External"/><Relationship Id="rId4" Type="http://schemas.openxmlformats.org/officeDocument/2006/relationships/hyperlink" Target="https://jira.airbus.corp/browse/SBAOG001-7983" TargetMode="External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ore.skywise.com/workspace/foundry-slate/app/a350_pre_cooler_depressurization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/>
        </p:nvSpPr>
        <p:spPr>
          <a:xfrm>
            <a:off x="5068075" y="3645025"/>
            <a:ext cx="7123800" cy="18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rgbClr val="F6B26B"/>
                </a:solidFill>
                <a:highlight>
                  <a:schemeClr val="dk1"/>
                </a:highlight>
              </a:rPr>
              <a:t> A350 -</a:t>
            </a:r>
            <a:r>
              <a:rPr b="1" lang="fr-FR" sz="2500">
                <a:solidFill>
                  <a:srgbClr val="F6B26B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ATA</a:t>
            </a:r>
            <a:r>
              <a:rPr b="1" lang="fr-FR" sz="2500">
                <a:solidFill>
                  <a:srgbClr val="F6B26B"/>
                </a:solidFill>
                <a:highlight>
                  <a:schemeClr val="dk1"/>
                </a:highlight>
              </a:rPr>
              <a:t> 36 - PCE Leakage Monitoring </a:t>
            </a:r>
            <a:endParaRPr b="1" sz="2500">
              <a:solidFill>
                <a:srgbClr val="F6B26B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rgbClr val="F6B26B"/>
                </a:solidFill>
                <a:highlight>
                  <a:schemeClr val="dk1"/>
                </a:highlight>
              </a:rPr>
              <a:t> Scoping review</a:t>
            </a:r>
            <a:endParaRPr>
              <a:solidFill>
                <a:srgbClr val="F6B26B"/>
              </a:solidFill>
              <a:highlight>
                <a:schemeClr val="dk1"/>
              </a:highlight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>
                <a:solidFill>
                  <a:schemeClr val="lt1"/>
                </a:solidFill>
                <a:highlight>
                  <a:schemeClr val="dk1"/>
                </a:highlight>
              </a:rPr>
              <a:t>15 Feb 2024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chemeClr val="lt1"/>
                </a:solidFill>
                <a:highlight>
                  <a:schemeClr val="dk1"/>
                </a:highlight>
              </a:rPr>
              <a:t>Prasanna RAUT, Akash JADHAV, Juan RODRIGUEZ</a:t>
            </a:r>
            <a:endParaRPr sz="22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>
                <a:solidFill>
                  <a:schemeClr val="lt1"/>
                </a:solidFill>
                <a:highlight>
                  <a:schemeClr val="dk1"/>
                </a:highlight>
              </a:rPr>
              <a:t> 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5484300" y="103900"/>
            <a:ext cx="36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FFFFFF"/>
                </a:solidFill>
              </a:rPr>
              <a:t>Not Export Controlled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10358525" y="157750"/>
            <a:ext cx="152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9900"/>
                </a:solidFill>
              </a:rPr>
              <a:t>AIRBUS AMBER</a:t>
            </a:r>
            <a:endParaRPr b="1" sz="12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/>
          <p:nvPr/>
        </p:nvSpPr>
        <p:spPr>
          <a:xfrm>
            <a:off x="13255134" y="4303817"/>
            <a:ext cx="232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6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9901" y="104649"/>
            <a:ext cx="112497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2"/>
                </a:solidFill>
              </a:rPr>
              <a:t>A350 ATA 36 </a:t>
            </a:r>
            <a:r>
              <a:rPr lang="fr-FR" sz="2500">
                <a:solidFill>
                  <a:schemeClr val="dk2"/>
                </a:solidFill>
              </a:rPr>
              <a:t>: </a:t>
            </a:r>
            <a:r>
              <a:rPr lang="fr-FR" sz="2500">
                <a:solidFill>
                  <a:schemeClr val="dk2"/>
                </a:solidFill>
              </a:rPr>
              <a:t>PCE Leakage Monitoring 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96325" y="593070"/>
            <a:ext cx="3276000" cy="298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lang="fr-FR">
                <a:solidFill>
                  <a:schemeClr val="lt1"/>
                </a:solidFill>
              </a:rPr>
              <a:t>Scoping</a:t>
            </a:r>
            <a:r>
              <a:rPr b="1" lang="fr-F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review participants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1297095" y="5419193"/>
            <a:ext cx="3258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4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endParaRPr b="1" sz="14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0395383" y="536837"/>
            <a:ext cx="365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endParaRPr b="1" sz="18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7" name="Google Shape;187;p20"/>
          <p:cNvSpPr txBox="1"/>
          <p:nvPr>
            <p:ph idx="11" type="ftr"/>
          </p:nvPr>
        </p:nvSpPr>
        <p:spPr>
          <a:xfrm>
            <a:off x="2236498" y="6444000"/>
            <a:ext cx="8296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Quattrocento Sans"/>
              <a:buNone/>
            </a:pPr>
            <a:r>
              <a:rPr b="0" i="0" lang="fr-FR" sz="8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Airbus internal</a:t>
            </a:r>
            <a:endParaRPr b="0" i="0" sz="800" u="none" cap="none" strike="noStrike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696324" y="8915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{63CCE368-CF65-4268-86BE-374E4395BD68}</a:tableStyleId>
              </a:tblPr>
              <a:tblGrid>
                <a:gridCol w="3240350"/>
                <a:gridCol w="2232250"/>
                <a:gridCol w="1728200"/>
                <a:gridCol w="1467050"/>
                <a:gridCol w="2637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u="none" cap="none" strike="noStrike"/>
                        <a:t>Role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Name &amp; Siglum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Mandatory?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Present?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Comment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Project</a:t>
                      </a: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 Leader</a:t>
                      </a:r>
                      <a:endParaRPr sz="18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fr-FR">
                          <a:solidFill>
                            <a:srgbClr val="00B050"/>
                          </a:solidFill>
                        </a:rPr>
                        <a:t>David Decouchon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Yes</a:t>
                      </a:r>
                      <a:endParaRPr sz="18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Operational expert</a:t>
                      </a:r>
                      <a:endParaRPr sz="18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No</a:t>
                      </a:r>
                      <a:endParaRPr sz="18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1SY focal point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rgbClr val="00B050"/>
                          </a:solidFill>
                        </a:rPr>
                        <a:t>Marta Díaz</a:t>
                      </a:r>
                      <a:endParaRPr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/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Yes</a:t>
                      </a:r>
                      <a:endParaRPr sz="18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Front-End representative / Airtac representative</a:t>
                      </a:r>
                      <a:endParaRPr sz="18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rgbClr val="00B050"/>
                          </a:solidFill>
                        </a:rPr>
                        <a:t>Heriniaina Rasolofo</a:t>
                      </a:r>
                      <a:endParaRPr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Yes</a:t>
                      </a:r>
                      <a:endParaRPr sz="18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Program / support program</a:t>
                      </a: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 / Skywise </a:t>
                      </a: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representative</a:t>
                      </a:r>
                      <a:endParaRPr sz="18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rgbClr val="00B050"/>
                          </a:solidFill>
                        </a:rPr>
                        <a:t>Yves Dupont</a:t>
                      </a:r>
                      <a:endParaRPr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00B050"/>
                          </a:solidFill>
                        </a:rPr>
                        <a:t>Yes</a:t>
                      </a:r>
                      <a:endParaRPr sz="18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Health</a:t>
                      </a:r>
                      <a:r>
                        <a:rPr lang="fr-FR" sz="1800"/>
                        <a:t> Engineer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Prasanna Raut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Akash Jadhav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Juan RODRIGUEZ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Yes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Design office / EV specialist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Luis Amesty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Yes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</a:tr>
              <a:tr h="35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R&amp;T focal point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fr-FR" sz="1800"/>
                        <a:t>No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Other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María Belén Cuenca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Yes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/>
        </p:nvSpPr>
        <p:spPr>
          <a:xfrm>
            <a:off x="469901" y="104649"/>
            <a:ext cx="112497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2"/>
                </a:solidFill>
              </a:rPr>
              <a:t>A350 ATA 36 </a:t>
            </a:r>
            <a:r>
              <a:rPr lang="fr-FR" sz="2500">
                <a:solidFill>
                  <a:schemeClr val="dk2"/>
                </a:solidFill>
              </a:rPr>
              <a:t>: PCE Leakage Monitoring </a:t>
            </a:r>
            <a:endParaRPr b="1" sz="25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>
                <a:solidFill>
                  <a:schemeClr val="dk2"/>
                </a:solidFill>
              </a:rPr>
              <a:t>Review Meeting Agenda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584425" y="1327925"/>
            <a:ext cx="10056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fr-FR" sz="2200"/>
              <a:t>System Description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eriod"/>
            </a:pPr>
            <a:r>
              <a:rPr lang="fr-FR" sz="2200"/>
              <a:t>Details of work done for current ASR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eriod"/>
            </a:pPr>
            <a:r>
              <a:rPr lang="fr-FR" sz="2200">
                <a:highlight>
                  <a:schemeClr val="lt1"/>
                </a:highlight>
              </a:rPr>
              <a:t>Leaky Precooler - Evidence</a:t>
            </a:r>
            <a:endParaRPr sz="2200">
              <a:highlight>
                <a:schemeClr val="lt1"/>
              </a:highlight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eriod"/>
            </a:pPr>
            <a:r>
              <a:rPr lang="fr-FR" sz="2200">
                <a:highlight>
                  <a:schemeClr val="lt1"/>
                </a:highlight>
              </a:rPr>
              <a:t>Existing monitoring approach and how its useful?</a:t>
            </a:r>
            <a:endParaRPr sz="2200">
              <a:highlight>
                <a:schemeClr val="lt1"/>
              </a:highlight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eriod"/>
            </a:pPr>
            <a:r>
              <a:rPr lang="fr-FR" sz="2200">
                <a:highlight>
                  <a:schemeClr val="lt1"/>
                </a:highlight>
              </a:rPr>
              <a:t>Need for monitoring at SPM</a:t>
            </a:r>
            <a:endParaRPr sz="2200">
              <a:highlight>
                <a:schemeClr val="lt1"/>
              </a:highlight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eriod"/>
            </a:pPr>
            <a:r>
              <a:rPr lang="fr-FR" sz="2200">
                <a:highlight>
                  <a:schemeClr val="lt1"/>
                </a:highlight>
              </a:rPr>
              <a:t>SAR Data Parameters</a:t>
            </a:r>
            <a:endParaRPr sz="22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24" y="1180199"/>
            <a:ext cx="6118399" cy="467084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469900" y="104650"/>
            <a:ext cx="112497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2500">
                <a:solidFill>
                  <a:schemeClr val="dk2"/>
                </a:solidFill>
              </a:rPr>
              <a:t>A350 ATA 36 </a:t>
            </a:r>
            <a:r>
              <a:rPr lang="fr-FR" sz="2500">
                <a:solidFill>
                  <a:schemeClr val="dk2"/>
                </a:solidFill>
              </a:rPr>
              <a:t>: </a:t>
            </a:r>
            <a:r>
              <a:rPr lang="fr-FR" sz="2500">
                <a:solidFill>
                  <a:schemeClr val="dk2"/>
                </a:solidFill>
              </a:rPr>
              <a:t>PCE Leakage Monitoring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619900" y="1154725"/>
            <a:ext cx="11099700" cy="50292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72000" lIns="72000" spcFirstLastPara="1" rIns="72000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A5A5A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A5A5A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695400" y="706613"/>
            <a:ext cx="5464500" cy="339600"/>
          </a:xfrm>
          <a:prstGeom prst="roundRect">
            <a:avLst>
              <a:gd fmla="val 16667" name="adj"/>
            </a:avLst>
          </a:prstGeom>
          <a:solidFill>
            <a:srgbClr val="00205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fr-FR">
                <a:solidFill>
                  <a:srgbClr val="FFFFFF"/>
                </a:solidFill>
              </a:rPr>
              <a:t>System Description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6348825" y="1154725"/>
            <a:ext cx="5298600" cy="3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300">
                <a:solidFill>
                  <a:schemeClr val="dk1"/>
                </a:solidFill>
              </a:rPr>
              <a:t>Background</a:t>
            </a:r>
            <a:r>
              <a:rPr lang="fr-FR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Pre-Cooler is used to reduce the temperature of engine bleed, before feeding it to Air Generation Unit.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If hot air leaks from pre-cooler it can damage the other components inside pylon.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No active sensor is available to detect air leak from pre-cooler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300">
                <a:solidFill>
                  <a:schemeClr val="dk1"/>
                </a:solidFill>
              </a:rPr>
              <a:t>System Information</a:t>
            </a:r>
            <a:r>
              <a:rPr lang="fr-FR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fr-FR" sz="1300">
                <a:solidFill>
                  <a:schemeClr val="dk1"/>
                </a:solidFill>
              </a:rPr>
              <a:t>At the end of engine start sequence pressurized air from APU is encapsulated in closed volume as highlighted in the Fig1.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PM1 sensor can be used to measure the pressure.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But all the components are not perfect including PCE(pre-cooler) and valves, hence air leaks out form the gaps reducing pressure gradually.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In case of leaky pre-coolers, air pressure drops drastically which is captured and is detectable by algorithm.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197100" y="3202550"/>
            <a:ext cx="461100" cy="214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957150" y="1606850"/>
            <a:ext cx="1081800" cy="66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7882825" y="4720600"/>
            <a:ext cx="2609400" cy="14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 u="sng">
                <a:solidFill>
                  <a:schemeClr val="dk1"/>
                </a:solidFill>
              </a:rPr>
              <a:t>PCE</a:t>
            </a:r>
            <a:endParaRPr b="1" sz="1200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fr-FR" sz="1200">
                <a:solidFill>
                  <a:schemeClr val="dk1"/>
                </a:solidFill>
              </a:rPr>
              <a:t>ATA 6D:</a:t>
            </a:r>
            <a:r>
              <a:rPr lang="fr-FR" sz="1200">
                <a:solidFill>
                  <a:schemeClr val="dk1"/>
                </a:solidFill>
              </a:rPr>
              <a:t> </a:t>
            </a:r>
            <a:r>
              <a:rPr lang="fr-FR" sz="1200">
                <a:solidFill>
                  <a:schemeClr val="dk1"/>
                </a:solidFill>
              </a:rPr>
              <a:t>36-11-62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fr-FR" sz="1200">
                <a:solidFill>
                  <a:schemeClr val="dk1"/>
                </a:solidFill>
              </a:rPr>
              <a:t>FIN:</a:t>
            </a:r>
            <a:r>
              <a:rPr lang="fr-FR" sz="1200">
                <a:solidFill>
                  <a:schemeClr val="dk1"/>
                </a:solidFill>
              </a:rPr>
              <a:t> </a:t>
            </a:r>
            <a:r>
              <a:rPr lang="fr-FR" sz="1200">
                <a:solidFill>
                  <a:schemeClr val="dk1"/>
                </a:solidFill>
              </a:rPr>
              <a:t>7150HA1</a:t>
            </a:r>
            <a:r>
              <a:rPr lang="fr-FR" sz="1200">
                <a:solidFill>
                  <a:schemeClr val="dk1"/>
                </a:solidFill>
              </a:rPr>
              <a:t>, </a:t>
            </a:r>
            <a:r>
              <a:rPr lang="fr-FR" sz="1200">
                <a:solidFill>
                  <a:schemeClr val="dk1"/>
                </a:solidFill>
              </a:rPr>
              <a:t>7150HA2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fr-FR" sz="1200">
                <a:solidFill>
                  <a:schemeClr val="dk1"/>
                </a:solidFill>
              </a:rPr>
              <a:t>PN</a:t>
            </a:r>
            <a:r>
              <a:rPr lang="fr-FR" sz="1200">
                <a:solidFill>
                  <a:schemeClr val="dk1"/>
                </a:solidFill>
              </a:rPr>
              <a:t>: 67200000-02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fr-FR" sz="1200">
                <a:solidFill>
                  <a:schemeClr val="dk1"/>
                </a:solidFill>
              </a:rPr>
              <a:t>Supplier:</a:t>
            </a:r>
            <a:r>
              <a:rPr lang="fr-FR" sz="1200">
                <a:solidFill>
                  <a:schemeClr val="dk1"/>
                </a:solidFill>
              </a:rPr>
              <a:t>HNW Torrance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2388829" y="3140150"/>
            <a:ext cx="784500" cy="66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3730725" y="3350051"/>
            <a:ext cx="701700" cy="39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1808725" y="3330050"/>
            <a:ext cx="461100" cy="46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3038950" y="5851050"/>
            <a:ext cx="814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rgbClr val="595959"/>
                </a:solidFill>
              </a:rPr>
              <a:t>Fig1</a:t>
            </a:r>
            <a:endParaRPr b="1" sz="15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/>
        </p:nvSpPr>
        <p:spPr>
          <a:xfrm>
            <a:off x="469900" y="104650"/>
            <a:ext cx="112497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2500">
                <a:solidFill>
                  <a:schemeClr val="dk2"/>
                </a:solidFill>
              </a:rPr>
              <a:t>A350 ATA 36 </a:t>
            </a:r>
            <a:r>
              <a:rPr lang="fr-FR" sz="2500">
                <a:solidFill>
                  <a:schemeClr val="dk2"/>
                </a:solidFill>
              </a:rPr>
              <a:t>: </a:t>
            </a:r>
            <a:r>
              <a:rPr lang="fr-FR" sz="2500">
                <a:solidFill>
                  <a:schemeClr val="dk2"/>
                </a:solidFill>
              </a:rPr>
              <a:t>PCE Leakage Monitoring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695400" y="706613"/>
            <a:ext cx="5464500" cy="339600"/>
          </a:xfrm>
          <a:prstGeom prst="roundRect">
            <a:avLst>
              <a:gd fmla="val 16667" name="adj"/>
            </a:avLst>
          </a:prstGeom>
          <a:solidFill>
            <a:srgbClr val="00205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fr-FR">
                <a:solidFill>
                  <a:srgbClr val="FFFFFF"/>
                </a:solidFill>
              </a:rPr>
              <a:t>Details of work done for current ASR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7592075" y="261450"/>
            <a:ext cx="394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hlink"/>
                </a:solidFill>
                <a:hlinkClick r:id="rId3"/>
              </a:rPr>
              <a:t>https://jira.airbus.corp/browse/SBAOG001-7983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624375" y="1228950"/>
            <a:ext cx="11181900" cy="48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Current </a:t>
            </a:r>
            <a:r>
              <a:rPr lang="fr-FR" sz="1500">
                <a:solidFill>
                  <a:schemeClr val="dk1"/>
                </a:solidFill>
              </a:rPr>
              <a:t>work is done under the ASR “</a:t>
            </a:r>
            <a:r>
              <a:rPr lang="fr-FR" sz="1500">
                <a:solidFill>
                  <a:srgbClr val="0000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A350 PCE leakage failures - Monitoring</a:t>
            </a:r>
            <a:r>
              <a:rPr lang="fr-FR" sz="1500">
                <a:solidFill>
                  <a:schemeClr val="dk1"/>
                </a:solidFill>
              </a:rPr>
              <a:t>”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highlight>
                  <a:schemeClr val="lt1"/>
                </a:highlight>
              </a:rPr>
              <a:t>Algorithm developed for ASR is </a:t>
            </a:r>
            <a:r>
              <a:rPr lang="fr-FR" sz="1500">
                <a:solidFill>
                  <a:schemeClr val="dk1"/>
                </a:solidFill>
                <a:highlight>
                  <a:schemeClr val="lt1"/>
                </a:highlight>
              </a:rPr>
              <a:t>validated</a:t>
            </a:r>
            <a:r>
              <a:rPr lang="fr-FR" sz="1500">
                <a:solidFill>
                  <a:schemeClr val="dk1"/>
                </a:solidFill>
                <a:highlight>
                  <a:schemeClr val="lt1"/>
                </a:highlight>
              </a:rPr>
              <a:t> with real leaky precooler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Analysis is done on A350 fleet for which in-service sensor SAR ch17 data is available on Skywise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fr-FR" sz="1500">
                <a:solidFill>
                  <a:schemeClr val="dk1"/>
                </a:solidFill>
              </a:rPr>
              <a:t>It covers aircrafts from SIA (Singapore Airline), QTR (Qatar Airline) and FIN (Finnair)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22" name="Google Shape;22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9725" y="2554562"/>
            <a:ext cx="8173200" cy="33620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975" y="3492606"/>
            <a:ext cx="9696125" cy="1799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7963" y="1448275"/>
            <a:ext cx="9696133" cy="183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469900" y="104650"/>
            <a:ext cx="112497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2500">
                <a:solidFill>
                  <a:schemeClr val="dk2"/>
                </a:solidFill>
              </a:rPr>
              <a:t>A350 ATA 36 </a:t>
            </a:r>
            <a:r>
              <a:rPr lang="fr-FR" sz="2500">
                <a:solidFill>
                  <a:schemeClr val="dk2"/>
                </a:solidFill>
              </a:rPr>
              <a:t>: PCE Leakage Monitoring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695400" y="706613"/>
            <a:ext cx="5464500" cy="339600"/>
          </a:xfrm>
          <a:prstGeom prst="roundRect">
            <a:avLst>
              <a:gd fmla="val 16667" name="adj"/>
            </a:avLst>
          </a:prstGeom>
          <a:solidFill>
            <a:srgbClr val="00205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fr-FR">
                <a:solidFill>
                  <a:srgbClr val="FFFFFF"/>
                </a:solidFill>
              </a:rPr>
              <a:t>Leaky Precooler - Evidence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6097475" y="1702025"/>
            <a:ext cx="31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595959"/>
                </a:solidFill>
              </a:rPr>
              <a:t>PCE Depressurization Event</a:t>
            </a:r>
            <a:endParaRPr sz="15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500">
                <a:solidFill>
                  <a:srgbClr val="595959"/>
                </a:solidFill>
              </a:rPr>
              <a:t>(Healthy PCE)</a:t>
            </a:r>
            <a:endParaRPr sz="1500">
              <a:solidFill>
                <a:srgbClr val="595959"/>
              </a:solidFill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4489650" y="5499725"/>
            <a:ext cx="31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</a:rPr>
              <a:t>Bigger depressurization slope in leaky PCE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6199450" y="769300"/>
            <a:ext cx="316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 u="sng">
                <a:solidFill>
                  <a:schemeClr val="dk1"/>
                </a:solidFill>
              </a:rPr>
              <a:t>MSN 54 SIA</a:t>
            </a:r>
            <a:endParaRPr b="1" sz="1500" u="sng">
              <a:solidFill>
                <a:schemeClr val="dk1"/>
              </a:solidFill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4804650" y="3966338"/>
            <a:ext cx="31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595959"/>
                </a:solidFill>
              </a:rPr>
              <a:t>PCE Depressurization Event</a:t>
            </a:r>
            <a:endParaRPr sz="15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595959"/>
                </a:solidFill>
              </a:rPr>
              <a:t>(Leaky PCE)</a:t>
            </a:r>
            <a:endParaRPr sz="15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/>
        </p:nvSpPr>
        <p:spPr>
          <a:xfrm>
            <a:off x="469900" y="104650"/>
            <a:ext cx="112497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2500">
                <a:solidFill>
                  <a:schemeClr val="dk2"/>
                </a:solidFill>
              </a:rPr>
              <a:t>A350 ATA 36 </a:t>
            </a:r>
            <a:r>
              <a:rPr lang="fr-FR" sz="2500">
                <a:solidFill>
                  <a:schemeClr val="dk2"/>
                </a:solidFill>
              </a:rPr>
              <a:t>: PCE Leakage Monitoring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695400" y="706613"/>
            <a:ext cx="5464500" cy="339600"/>
          </a:xfrm>
          <a:prstGeom prst="roundRect">
            <a:avLst>
              <a:gd fmla="val 16667" name="adj"/>
            </a:avLst>
          </a:prstGeom>
          <a:solidFill>
            <a:srgbClr val="00205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fr-FR">
                <a:solidFill>
                  <a:srgbClr val="FFFFFF"/>
                </a:solidFill>
              </a:rPr>
              <a:t>Leaky Precooler - Evidence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396" y="1596300"/>
            <a:ext cx="2592000" cy="366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25"/>
          <p:cNvSpPr txBox="1"/>
          <p:nvPr/>
        </p:nvSpPr>
        <p:spPr>
          <a:xfrm>
            <a:off x="1500425" y="5167275"/>
            <a:ext cx="814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rgbClr val="595959"/>
                </a:solidFill>
              </a:rPr>
              <a:t>Fig1</a:t>
            </a:r>
            <a:endParaRPr b="1" sz="1500">
              <a:solidFill>
                <a:srgbClr val="595959"/>
              </a:solidFill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5122050" y="5217650"/>
            <a:ext cx="814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rgbClr val="595959"/>
                </a:solidFill>
              </a:rPr>
              <a:t>Fig2</a:t>
            </a:r>
            <a:endParaRPr b="1" sz="1500">
              <a:solidFill>
                <a:srgbClr val="595959"/>
              </a:solidFill>
            </a:endParaRPr>
          </a:p>
        </p:txBody>
      </p:sp>
      <p:pic>
        <p:nvPicPr>
          <p:cNvPr id="246" name="Google Shape;24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525" y="2086513"/>
            <a:ext cx="3699775" cy="26849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7" name="Google Shape;247;p25"/>
          <p:cNvSpPr txBox="1"/>
          <p:nvPr/>
        </p:nvSpPr>
        <p:spPr>
          <a:xfrm>
            <a:off x="6963675" y="1288350"/>
            <a:ext cx="5298600" cy="45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300">
                <a:solidFill>
                  <a:schemeClr val="dk1"/>
                </a:solidFill>
              </a:rPr>
              <a:t>Validation of ASR algorithm</a:t>
            </a:r>
            <a:r>
              <a:rPr lang="fr-FR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As explained in the system description section, the work performed for ASR focuses on developing an algorithm which captures depressurization time after engine start.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In normal conditions, depressurization time is &gt;6sec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For abnormal </a:t>
            </a:r>
            <a:r>
              <a:rPr lang="fr-FR" sz="1300">
                <a:solidFill>
                  <a:schemeClr val="dk1"/>
                </a:solidFill>
              </a:rPr>
              <a:t>cases</a:t>
            </a:r>
            <a:r>
              <a:rPr lang="fr-FR" sz="1300">
                <a:solidFill>
                  <a:schemeClr val="dk1"/>
                </a:solidFill>
              </a:rPr>
              <a:t> when PCE is expected to be leaky, </a:t>
            </a:r>
            <a:r>
              <a:rPr lang="fr-FR" sz="1300">
                <a:solidFill>
                  <a:schemeClr val="dk1"/>
                </a:solidFill>
              </a:rPr>
              <a:t>considering</a:t>
            </a:r>
            <a:r>
              <a:rPr lang="fr-FR" sz="1300">
                <a:solidFill>
                  <a:schemeClr val="dk1"/>
                </a:solidFill>
              </a:rPr>
              <a:t> OPSOV, MPV, Engine Starter Valve are good and air pipes are not leaking, the depressurization will be very fast (&lt;1sec).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As visible in Fig1, the algorithm have predicted leaky precooler from the Q1 2023 for MSN 54 of Singapore Airline (with sudden drop in depressurization time)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Early this year the hardware had be inspected and we found actual leakage in pre-cooler also thermal blanket around PCE is damaged.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This is a very good validation for proving the algorithm is </a:t>
            </a:r>
            <a:r>
              <a:rPr lang="fr-FR" sz="1300">
                <a:solidFill>
                  <a:schemeClr val="dk1"/>
                </a:solidFill>
              </a:rPr>
              <a:t>working</a:t>
            </a:r>
            <a:r>
              <a:rPr lang="fr-FR" sz="1300">
                <a:solidFill>
                  <a:schemeClr val="dk1"/>
                </a:solidFill>
              </a:rPr>
              <a:t> as expected.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fr-FR" sz="1300">
                <a:solidFill>
                  <a:schemeClr val="dk1"/>
                </a:solidFill>
              </a:rPr>
              <a:t>After detection of leaky </a:t>
            </a:r>
            <a:r>
              <a:rPr lang="fr-FR" sz="1300">
                <a:solidFill>
                  <a:schemeClr val="dk1"/>
                </a:solidFill>
              </a:rPr>
              <a:t>precooler</a:t>
            </a:r>
            <a:r>
              <a:rPr lang="fr-FR" sz="1300">
                <a:solidFill>
                  <a:schemeClr val="dk1"/>
                </a:solidFill>
              </a:rPr>
              <a:t> the hardware is replace with new PCE on 13th Jan 2024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/>
        </p:nvSpPr>
        <p:spPr>
          <a:xfrm>
            <a:off x="469900" y="104650"/>
            <a:ext cx="112497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2500">
                <a:solidFill>
                  <a:schemeClr val="dk2"/>
                </a:solidFill>
              </a:rPr>
              <a:t>A350 ATA 36 </a:t>
            </a:r>
            <a:r>
              <a:rPr lang="fr-FR" sz="2500">
                <a:solidFill>
                  <a:schemeClr val="dk2"/>
                </a:solidFill>
              </a:rPr>
              <a:t>: PCE Leakage Monitoring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695400" y="706613"/>
            <a:ext cx="5464500" cy="339600"/>
          </a:xfrm>
          <a:prstGeom prst="roundRect">
            <a:avLst>
              <a:gd fmla="val 16667" name="adj"/>
            </a:avLst>
          </a:prstGeom>
          <a:solidFill>
            <a:srgbClr val="00205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fr-FR">
                <a:solidFill>
                  <a:srgbClr val="FFFFFF"/>
                </a:solidFill>
              </a:rPr>
              <a:t>Existing monitoring approach and how its useful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624375" y="1228950"/>
            <a:ext cx="6405600" cy="3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With the proven usability of algorithm and after discussions with airline (SIA).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Singapore airline is interested to </a:t>
            </a:r>
            <a:r>
              <a:rPr lang="fr-FR" sz="1500">
                <a:solidFill>
                  <a:schemeClr val="dk1"/>
                </a:solidFill>
              </a:rPr>
              <a:t>continuously</a:t>
            </a:r>
            <a:r>
              <a:rPr lang="fr-FR" sz="1500">
                <a:solidFill>
                  <a:schemeClr val="dk1"/>
                </a:solidFill>
              </a:rPr>
              <a:t> monitor the fleet performance.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In-line with this ideas, ASR work have been extended to </a:t>
            </a:r>
            <a:r>
              <a:rPr lang="fr-FR" sz="1500">
                <a:solidFill>
                  <a:schemeClr val="dk1"/>
                </a:solidFill>
              </a:rPr>
              <a:t>develop</a:t>
            </a:r>
            <a:r>
              <a:rPr lang="fr-FR" sz="1500">
                <a:solidFill>
                  <a:schemeClr val="dk1"/>
                </a:solidFill>
              </a:rPr>
              <a:t> a data </a:t>
            </a:r>
            <a:r>
              <a:rPr lang="fr-FR" sz="1500">
                <a:solidFill>
                  <a:schemeClr val="dk1"/>
                </a:solidFill>
              </a:rPr>
              <a:t>analysis</a:t>
            </a:r>
            <a:r>
              <a:rPr lang="fr-FR" sz="1500">
                <a:solidFill>
                  <a:schemeClr val="dk1"/>
                </a:solidFill>
              </a:rPr>
              <a:t> pipeline to continuously monitor the PCE performance.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Following is the dashboard which shows </a:t>
            </a:r>
            <a:r>
              <a:rPr lang="fr-FR" sz="1500">
                <a:solidFill>
                  <a:schemeClr val="dk1"/>
                </a:solidFill>
              </a:rPr>
              <a:t>probably</a:t>
            </a:r>
            <a:r>
              <a:rPr lang="fr-FR" sz="1500">
                <a:solidFill>
                  <a:schemeClr val="dk1"/>
                </a:solidFill>
              </a:rPr>
              <a:t> leaky precooler information.</a:t>
            </a:r>
            <a:endParaRPr sz="15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-FR">
                <a:solidFill>
                  <a:schemeClr val="dk1"/>
                </a:solidFill>
              </a:rPr>
              <a:t>Approach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fr-FR">
                <a:solidFill>
                  <a:schemeClr val="dk1"/>
                </a:solidFill>
              </a:rPr>
              <a:t>Run the </a:t>
            </a:r>
            <a:r>
              <a:rPr lang="fr-FR">
                <a:solidFill>
                  <a:schemeClr val="dk1"/>
                </a:solidFill>
              </a:rPr>
              <a:t>pipeline</a:t>
            </a:r>
            <a:r>
              <a:rPr lang="fr-FR">
                <a:solidFill>
                  <a:schemeClr val="dk1"/>
                </a:solidFill>
              </a:rPr>
              <a:t> daily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fr-FR">
                <a:solidFill>
                  <a:schemeClr val="dk1"/>
                </a:solidFill>
              </a:rPr>
              <a:t>Analyze flights from past 30 days for which sensor data is available on Skywise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fr-FR">
                <a:solidFill>
                  <a:schemeClr val="dk1"/>
                </a:solidFill>
              </a:rPr>
              <a:t>H</a:t>
            </a:r>
            <a:r>
              <a:rPr lang="fr-FR">
                <a:solidFill>
                  <a:schemeClr val="dk1"/>
                </a:solidFill>
              </a:rPr>
              <a:t>ighlight the aircrafts with probably leaky precoolers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2572950" y="5130550"/>
            <a:ext cx="1709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Dashboard</a:t>
            </a:r>
            <a:endParaRPr sz="1800">
              <a:solidFill>
                <a:srgbClr val="0000FF"/>
              </a:solidFill>
            </a:endParaRPr>
          </a:p>
        </p:txBody>
      </p:sp>
      <p:pic>
        <p:nvPicPr>
          <p:cNvPr id="257" name="Google Shape;25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9975" y="316887"/>
            <a:ext cx="4857225" cy="558492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/>
        </p:nvSpPr>
        <p:spPr>
          <a:xfrm>
            <a:off x="469900" y="104650"/>
            <a:ext cx="112497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2500">
                <a:solidFill>
                  <a:schemeClr val="dk2"/>
                </a:solidFill>
              </a:rPr>
              <a:t>A350 ATA 36 </a:t>
            </a:r>
            <a:r>
              <a:rPr lang="fr-FR" sz="2500">
                <a:solidFill>
                  <a:schemeClr val="dk2"/>
                </a:solidFill>
              </a:rPr>
              <a:t>: PCE Leakage Monitoring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695400" y="706613"/>
            <a:ext cx="5464500" cy="339600"/>
          </a:xfrm>
          <a:prstGeom prst="roundRect">
            <a:avLst>
              <a:gd fmla="val 16667" name="adj"/>
            </a:avLst>
          </a:prstGeom>
          <a:solidFill>
            <a:srgbClr val="00205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fr-FR">
                <a:solidFill>
                  <a:srgbClr val="FFFFFF"/>
                </a:solidFill>
              </a:rPr>
              <a:t>Need for monitoring at SPM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624375" y="1228950"/>
            <a:ext cx="10196400" cy="4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</a:rPr>
              <a:t>Why is there a need for SPM monitoring?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Operating with leaky </a:t>
            </a:r>
            <a:r>
              <a:rPr lang="fr-FR" sz="1500">
                <a:solidFill>
                  <a:schemeClr val="dk1"/>
                </a:solidFill>
              </a:rPr>
              <a:t>precooler</a:t>
            </a:r>
            <a:r>
              <a:rPr lang="fr-FR" sz="1500">
                <a:solidFill>
                  <a:schemeClr val="dk1"/>
                </a:solidFill>
              </a:rPr>
              <a:t> can damage other components inside pylon, especially in case of engine fire.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Singapore Airline is interested to perform continuous monitoring of the entire fleet.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fr-FR" sz="1500">
                <a:solidFill>
                  <a:schemeClr val="dk1"/>
                </a:solidFill>
              </a:rPr>
              <a:t>Discussions with Qatar airline is in progress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The usability and validation of algorithm have already been demonstrated with ASR.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No new sensor or hardware change is required for implementation of the proposed approach.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Algorithm is very good at this point, multiple validations have been performed to validate by manually checking the depressurization time from time-series sensor data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 u="sng">
                <a:solidFill>
                  <a:schemeClr val="dk1"/>
                </a:solidFill>
              </a:rPr>
              <a:t>SPM monitoring will improve the prediction accuracy by tuning the threshold and logic.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 u="sng">
                <a:solidFill>
                  <a:schemeClr val="dk1"/>
                </a:solidFill>
              </a:rPr>
              <a:t>SPM monitoring can cover the complete fleet of aircrafts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 u="sng">
                <a:solidFill>
                  <a:schemeClr val="dk1"/>
                </a:solidFill>
              </a:rPr>
              <a:t>SPM will </a:t>
            </a:r>
            <a:r>
              <a:rPr lang="fr-FR" sz="1500" u="sng">
                <a:solidFill>
                  <a:schemeClr val="dk1"/>
                </a:solidFill>
              </a:rPr>
              <a:t>enable</a:t>
            </a:r>
            <a:r>
              <a:rPr lang="fr-FR" sz="1500" u="sng">
                <a:solidFill>
                  <a:schemeClr val="dk1"/>
                </a:solidFill>
              </a:rPr>
              <a:t> notification to airline in case of leaky precooler detection.</a:t>
            </a:r>
            <a:endParaRPr sz="1500" u="sng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/>
        </p:nvSpPr>
        <p:spPr>
          <a:xfrm>
            <a:off x="435650" y="104650"/>
            <a:ext cx="112497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2500">
                <a:solidFill>
                  <a:schemeClr val="dk2"/>
                </a:solidFill>
              </a:rPr>
              <a:t>A350 ATA 36 </a:t>
            </a:r>
            <a:r>
              <a:rPr lang="fr-FR" sz="2500">
                <a:solidFill>
                  <a:schemeClr val="dk2"/>
                </a:solidFill>
              </a:rPr>
              <a:t>: PCE Leakage Monitoring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695400" y="706613"/>
            <a:ext cx="5464500" cy="339600"/>
          </a:xfrm>
          <a:prstGeom prst="roundRect">
            <a:avLst>
              <a:gd fmla="val 16667" name="adj"/>
            </a:avLst>
          </a:prstGeom>
          <a:solidFill>
            <a:srgbClr val="00205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fr-FR">
                <a:solidFill>
                  <a:srgbClr val="FFFFFF"/>
                </a:solidFill>
              </a:rPr>
              <a:t>SAR Data Parameters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3" name="Google Shape;273;p28"/>
          <p:cNvGraphicFramePr/>
          <p:nvPr/>
        </p:nvGraphicFramePr>
        <p:xfrm>
          <a:off x="2032800" y="123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{B22DB326-56A3-4135-885B-215168AB6244}</a:tableStyleId>
              </a:tblPr>
              <a:tblGrid>
                <a:gridCol w="1130150"/>
                <a:gridCol w="1130150"/>
                <a:gridCol w="2362025"/>
                <a:gridCol w="1130150"/>
                <a:gridCol w="1130150"/>
              </a:tblGrid>
              <a:tr h="494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Channel</a:t>
                      </a:r>
                      <a:endParaRPr b="1" sz="1000"/>
                    </a:p>
                  </a:txBody>
                  <a:tcPr marT="19050" marB="19050" marR="28575" marL="2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Parameter ACU</a:t>
                      </a:r>
                      <a:endParaRPr b="1" sz="1000"/>
                    </a:p>
                  </a:txBody>
                  <a:tcPr marT="19050" marB="19050" marR="28575" marL="2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Description</a:t>
                      </a:r>
                      <a:endParaRPr b="1" sz="1000"/>
                    </a:p>
                  </a:txBody>
                  <a:tcPr marT="19050" marB="19050" marR="28575" marL="2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Recording frequency (Hz)</a:t>
                      </a:r>
                      <a:endParaRPr b="1" sz="1000"/>
                    </a:p>
                  </a:txBody>
                  <a:tcPr marT="19050" marB="19050" marR="28575" marL="2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Type</a:t>
                      </a:r>
                      <a:endParaRPr b="1" sz="1000"/>
                    </a:p>
                  </a:txBody>
                  <a:tcPr marT="19050" marB="19050" marR="28575" marL="2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PM1.1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EBAS 1 Manifold Pressure (PM1)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Float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PM1.2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EBAS 2 Manifold Pressure (PM1)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PM2.1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EBAS 1 Manifold Pressure (PM2)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PM2.2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EBAS 2 Manifold Pressure (PM2)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HP6PR.1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HP6 pressure (from engine 1)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HP6PR.2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HP6 pressure(from engine 2)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OPSOVPOS.1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OPSOV 1 position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Boolean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OPSOVPOS.2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OPSOV 2 position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Boolean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PBPRENG.1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PB Pressure engine1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PBPRENG.2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PB Pressure engine 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MPVTMCUR.1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Current to MPV 1 Torque motor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MPVTMCUR.2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Current to MPV2 Torque motor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MPVPOS.1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MPV 1 position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Boolean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MPVPOS.2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MPV 2 position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Boolean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APUBVPOS:1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APUBV position fully closed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Boolean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APUBVPOS:2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APUBV position fully closed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Boolean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/>
          <p:nvPr/>
        </p:nvSpPr>
        <p:spPr>
          <a:xfrm>
            <a:off x="13255134" y="4303817"/>
            <a:ext cx="232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6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469901" y="104649"/>
            <a:ext cx="112497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2500">
                <a:solidFill>
                  <a:schemeClr val="dk2"/>
                </a:solidFill>
              </a:rPr>
              <a:t>A350 ATA 36 </a:t>
            </a:r>
            <a:r>
              <a:rPr lang="fr-FR" sz="2500">
                <a:solidFill>
                  <a:schemeClr val="dk2"/>
                </a:solidFill>
              </a:rPr>
              <a:t>: </a:t>
            </a:r>
            <a:r>
              <a:rPr lang="fr-FR" sz="2500">
                <a:solidFill>
                  <a:schemeClr val="dk2"/>
                </a:solidFill>
              </a:rPr>
              <a:t>PCE Leakage Monitoring</a:t>
            </a:r>
            <a:endParaRPr sz="2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11297095" y="5419193"/>
            <a:ext cx="3258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4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endParaRPr b="1" sz="14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10395383" y="536837"/>
            <a:ext cx="365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endParaRPr b="1" sz="18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3" name="Google Shape;283;p29"/>
          <p:cNvSpPr txBox="1"/>
          <p:nvPr>
            <p:ph idx="11" type="ftr"/>
          </p:nvPr>
        </p:nvSpPr>
        <p:spPr>
          <a:xfrm>
            <a:off x="2236498" y="6444000"/>
            <a:ext cx="8296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Quattrocento Sans"/>
              <a:buNone/>
            </a:pPr>
            <a:r>
              <a:rPr b="0" i="0" lang="fr-FR" sz="8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Airbus internal</a:t>
            </a:r>
            <a:endParaRPr b="0" i="0" sz="800" u="none" cap="none" strike="noStrike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592675" y="1044225"/>
            <a:ext cx="10987800" cy="49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rgbClr val="002060"/>
                </a:solidFill>
              </a:rPr>
              <a:t>Summary of the key points:</a:t>
            </a:r>
            <a:endParaRPr b="1" sz="1500">
              <a:solidFill>
                <a:srgbClr val="00206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fr-FR" sz="1500">
                <a:solidFill>
                  <a:srgbClr val="002060"/>
                </a:solidFill>
              </a:rPr>
              <a:t>PCE Leakage Monitoring algorithm have been developed for ASR.</a:t>
            </a:r>
            <a:endParaRPr sz="1500">
              <a:solidFill>
                <a:srgbClr val="00206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fr-FR" sz="1500">
                <a:solidFill>
                  <a:srgbClr val="002060"/>
                </a:solidFill>
              </a:rPr>
              <a:t>The algorithm is validated with real leakage in SIA MSN 54(Left Engine PCE) and QTR MSN 132 (Right Engine PCE).</a:t>
            </a:r>
            <a:endParaRPr sz="1500">
              <a:solidFill>
                <a:srgbClr val="00206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fr-FR" sz="1500">
                <a:solidFill>
                  <a:srgbClr val="002060"/>
                </a:solidFill>
              </a:rPr>
              <a:t>Singapore airline is interested for continuous monitoring of the A350 fleet.</a:t>
            </a:r>
            <a:endParaRPr sz="1500">
              <a:solidFill>
                <a:srgbClr val="00206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fr-FR" sz="1500">
                <a:solidFill>
                  <a:srgbClr val="002060"/>
                </a:solidFill>
              </a:rPr>
              <a:t>Similar algorithm can be developed for SA and LR aircrafts.</a:t>
            </a:r>
            <a:endParaRPr sz="1500">
              <a:solidFill>
                <a:srgbClr val="00206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fr-FR" sz="1500">
                <a:solidFill>
                  <a:srgbClr val="002060"/>
                </a:solidFill>
              </a:rPr>
              <a:t>A strong use case for SPM applicability</a:t>
            </a:r>
            <a:endParaRPr sz="1500">
              <a:solidFill>
                <a:srgbClr val="00206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fr-FR" sz="1500">
                <a:solidFill>
                  <a:srgbClr val="002060"/>
                </a:solidFill>
              </a:rPr>
              <a:t>Further improvements in the algorithm can be implemented to improve the detection accuracy.</a:t>
            </a:r>
            <a:endParaRPr sz="15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rgbClr val="002060"/>
                </a:solidFill>
              </a:rPr>
              <a:t>Conclusion:</a:t>
            </a:r>
            <a:endParaRPr b="1" sz="1500">
              <a:solidFill>
                <a:srgbClr val="00206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fr-FR" sz="1500">
                <a:solidFill>
                  <a:srgbClr val="002060"/>
                </a:solidFill>
              </a:rPr>
              <a:t>Conclusion on scoping: </a:t>
            </a:r>
            <a:r>
              <a:rPr b="1" lang="fr-FR" sz="1500">
                <a:solidFill>
                  <a:srgbClr val="002060"/>
                </a:solidFill>
              </a:rPr>
              <a:t>GO / NO-GO</a:t>
            </a:r>
            <a:endParaRPr sz="1500">
              <a:solidFill>
                <a:srgbClr val="00206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○"/>
            </a:pPr>
            <a:r>
              <a:rPr b="1" lang="fr-FR" sz="1500">
                <a:solidFill>
                  <a:srgbClr val="002060"/>
                </a:solidFill>
              </a:rPr>
              <a:t>GO</a:t>
            </a:r>
            <a:endParaRPr b="1" sz="1500">
              <a:solidFill>
                <a:srgbClr val="00206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fr-FR" sz="1500">
                <a:solidFill>
                  <a:srgbClr val="002060"/>
                </a:solidFill>
              </a:rPr>
              <a:t>Mandatory actions to be performed before feasibility study:</a:t>
            </a:r>
            <a:endParaRPr sz="1500">
              <a:solidFill>
                <a:srgbClr val="00206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○"/>
            </a:pPr>
            <a:r>
              <a:rPr b="1" lang="fr-FR" sz="1500">
                <a:solidFill>
                  <a:srgbClr val="002060"/>
                </a:solidFill>
              </a:rPr>
              <a:t>Note: SAR17 is available only for &lt;40% of the fleet</a:t>
            </a:r>
            <a:endParaRPr b="1" sz="1500">
              <a:solidFill>
                <a:srgbClr val="00206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○"/>
            </a:pPr>
            <a:r>
              <a:rPr b="1" lang="fr-FR" sz="1500">
                <a:solidFill>
                  <a:srgbClr val="002060"/>
                </a:solidFill>
              </a:rPr>
              <a:t>Check with airlines for SAR17</a:t>
            </a:r>
            <a:endParaRPr b="1" sz="1500">
              <a:solidFill>
                <a:srgbClr val="002060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■"/>
            </a:pPr>
            <a:r>
              <a:rPr b="1" lang="fr-FR" sz="1500">
                <a:solidFill>
                  <a:srgbClr val="002060"/>
                </a:solidFill>
              </a:rPr>
              <a:t>Start with JAL airline</a:t>
            </a:r>
            <a:endParaRPr b="1" sz="1500">
              <a:solidFill>
                <a:srgbClr val="002060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■"/>
            </a:pPr>
            <a:r>
              <a:rPr lang="fr-FR" sz="1500">
                <a:solidFill>
                  <a:srgbClr val="002060"/>
                </a:solidFill>
              </a:rPr>
              <a:t>H Rasolofo </a:t>
            </a:r>
            <a:r>
              <a:rPr lang="fr-FR" sz="1500">
                <a:solidFill>
                  <a:srgbClr val="CAD8E2"/>
                </a:solidFill>
                <a:highlight>
                  <a:schemeClr val="lt1"/>
                </a:highlight>
              </a:rPr>
              <a:t>(contact person in JAL)</a:t>
            </a:r>
            <a:endParaRPr sz="1500">
              <a:solidFill>
                <a:srgbClr val="CAD8E2"/>
              </a:solidFill>
              <a:highlight>
                <a:schemeClr val="lt1"/>
              </a:highlight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fr-FR" sz="1500">
                <a:solidFill>
                  <a:schemeClr val="dk1"/>
                </a:solidFill>
                <a:highlight>
                  <a:schemeClr val="lt1"/>
                </a:highlight>
              </a:rPr>
              <a:t>Airlines (JAL,  FWI, CAL, UAE, EVE, ITY, QFA, SAS , SCS)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/>
        </p:nvSpPr>
        <p:spPr>
          <a:xfrm>
            <a:off x="765150" y="2545700"/>
            <a:ext cx="10538400" cy="15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chemeClr val="dk1"/>
                </a:solidFill>
              </a:rPr>
              <a:t>Thank You !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 txBox="1"/>
          <p:nvPr/>
        </p:nvSpPr>
        <p:spPr>
          <a:xfrm>
            <a:off x="469900" y="104650"/>
            <a:ext cx="112497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2500">
                <a:solidFill>
                  <a:schemeClr val="dk2"/>
                </a:solidFill>
              </a:rPr>
              <a:t>A350 ATA 36 </a:t>
            </a:r>
            <a:r>
              <a:rPr lang="fr-FR" sz="2500">
                <a:solidFill>
                  <a:schemeClr val="dk2"/>
                </a:solidFill>
              </a:rPr>
              <a:t>: PCE Leakage Monitoring 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695400" y="706613"/>
            <a:ext cx="5464500" cy="339600"/>
          </a:xfrm>
          <a:prstGeom prst="roundRect">
            <a:avLst>
              <a:gd fmla="val 16667" name="adj"/>
            </a:avLst>
          </a:prstGeom>
          <a:solidFill>
            <a:srgbClr val="00205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fr-FR">
                <a:solidFill>
                  <a:srgbClr val="FFFFFF"/>
                </a:solidFill>
              </a:rPr>
              <a:t>Logic - Flow Chart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3036" y="1129921"/>
            <a:ext cx="7679001" cy="50938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9" name="Google Shape;299;p31"/>
          <p:cNvSpPr txBox="1"/>
          <p:nvPr/>
        </p:nvSpPr>
        <p:spPr>
          <a:xfrm>
            <a:off x="758975" y="1129925"/>
            <a:ext cx="12066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</a:rPr>
              <a:t>Start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1408725" y="1339550"/>
            <a:ext cx="1991100" cy="6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1"/>
          <p:cNvSpPr txBox="1"/>
          <p:nvPr/>
        </p:nvSpPr>
        <p:spPr>
          <a:xfrm rot="-1947168">
            <a:off x="3058039" y="3044530"/>
            <a:ext cx="4585500" cy="18604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rgbClr val="FF0000"/>
                </a:solidFill>
              </a:rPr>
              <a:t>Check if this slide is required?</a:t>
            </a:r>
            <a:endParaRPr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rissa">
  <a:themeElements>
    <a:clrScheme name="AIRBUS">
      <a:dk1>
        <a:srgbClr val="000000"/>
      </a:dk1>
      <a:lt1>
        <a:srgbClr val="FFFFFF"/>
      </a:lt1>
      <a:dk2>
        <a:srgbClr val="E0E0DF"/>
      </a:dk2>
      <a:lt2>
        <a:srgbClr val="E0E0DF"/>
      </a:lt2>
      <a:accent1>
        <a:srgbClr val="1E3174"/>
      </a:accent1>
      <a:accent2>
        <a:srgbClr val="0D5881"/>
      </a:accent2>
      <a:accent3>
        <a:srgbClr val="5A6F83"/>
      </a:accent3>
      <a:accent4>
        <a:srgbClr val="9099A7"/>
      </a:accent4>
      <a:accent5>
        <a:srgbClr val="0085AD"/>
      </a:accent5>
      <a:accent6>
        <a:srgbClr val="9A3393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B PPT template 16_9">
  <a:themeElements>
    <a:clrScheme name="Airbus colour theme">
      <a:dk1>
        <a:srgbClr val="000000"/>
      </a:dk1>
      <a:lt1>
        <a:srgbClr val="FFFFFF"/>
      </a:lt1>
      <a:dk2>
        <a:srgbClr val="00205B"/>
      </a:dk2>
      <a:lt2>
        <a:srgbClr val="005587"/>
      </a:lt2>
      <a:accent1>
        <a:srgbClr val="0085AD"/>
      </a:accent1>
      <a:accent2>
        <a:srgbClr val="B7C9D3"/>
      </a:accent2>
      <a:accent3>
        <a:srgbClr val="84BD00"/>
      </a:accent3>
      <a:accent4>
        <a:srgbClr val="E4002B"/>
      </a:accent4>
      <a:accent5>
        <a:srgbClr val="FE5000"/>
      </a:accent5>
      <a:accent6>
        <a:srgbClr val="A5189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